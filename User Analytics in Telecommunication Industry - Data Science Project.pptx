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Poppins Semi-Bold" charset="1" panose="00000700000000000000"/>
      <p:regular r:id="rId26"/>
    </p:embeddedFont>
    <p:embeddedFont>
      <p:font typeface="Open Sans Bold" charset="1" panose="00000000000000000000"/>
      <p:regular r:id="rId27"/>
    </p:embeddedFont>
    <p:embeddedFont>
      <p:font typeface="Open Sans"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114260" y="957233"/>
            <a:ext cx="681289" cy="847008"/>
          </a:xfrm>
          <a:custGeom>
            <a:avLst/>
            <a:gdLst/>
            <a:ahLst/>
            <a:cxnLst/>
            <a:rect r="r" b="b" t="t" l="l"/>
            <a:pathLst>
              <a:path h="847008" w="681289">
                <a:moveTo>
                  <a:pt x="0" y="0"/>
                </a:moveTo>
                <a:lnTo>
                  <a:pt x="681289" y="0"/>
                </a:lnTo>
                <a:lnTo>
                  <a:pt x="681289" y="847008"/>
                </a:lnTo>
                <a:lnTo>
                  <a:pt x="0" y="847008"/>
                </a:lnTo>
                <a:lnTo>
                  <a:pt x="0" y="0"/>
                </a:lnTo>
                <a:close/>
              </a:path>
            </a:pathLst>
          </a:custGeom>
          <a:blipFill>
            <a:blip r:embed="rId2"/>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sp>
        <p:nvSpPr>
          <p:cNvPr name="TextBox 16" id="16"/>
          <p:cNvSpPr txBox="true"/>
          <p:nvPr/>
        </p:nvSpPr>
        <p:spPr>
          <a:xfrm rot="0">
            <a:off x="1028700" y="3226644"/>
            <a:ext cx="9537689" cy="909657"/>
          </a:xfrm>
          <a:prstGeom prst="rect">
            <a:avLst/>
          </a:prstGeom>
        </p:spPr>
        <p:txBody>
          <a:bodyPr anchor="t" rtlCol="false" tIns="0" lIns="0" bIns="0" rIns="0">
            <a:spAutoFit/>
          </a:bodyPr>
          <a:lstStyle/>
          <a:p>
            <a:pPr algn="just" marL="0" indent="0" lvl="0">
              <a:lnSpc>
                <a:spcPts val="7086"/>
              </a:lnSpc>
            </a:pPr>
            <a:r>
              <a:rPr lang="en-US" b="true" sz="5061">
                <a:solidFill>
                  <a:srgbClr val="1E293B"/>
                </a:solidFill>
                <a:latin typeface="Poppins Semi-Bold"/>
                <a:ea typeface="Poppins Semi-Bold"/>
                <a:cs typeface="Poppins Semi-Bold"/>
                <a:sym typeface="Poppins Semi-Bold"/>
              </a:rPr>
              <a:t>User Analytics in</a:t>
            </a:r>
          </a:p>
        </p:txBody>
      </p:sp>
      <p:sp>
        <p:nvSpPr>
          <p:cNvPr name="TextBox 17" id="17"/>
          <p:cNvSpPr txBox="true"/>
          <p:nvPr/>
        </p:nvSpPr>
        <p:spPr>
          <a:xfrm rot="0">
            <a:off x="1028700" y="4621701"/>
            <a:ext cx="7640629" cy="1805007"/>
          </a:xfrm>
          <a:prstGeom prst="rect">
            <a:avLst/>
          </a:prstGeom>
        </p:spPr>
        <p:txBody>
          <a:bodyPr anchor="t" rtlCol="false" tIns="0" lIns="0" bIns="0" rIns="0">
            <a:spAutoFit/>
          </a:bodyPr>
          <a:lstStyle/>
          <a:p>
            <a:pPr algn="just" marL="0" indent="0" lvl="0">
              <a:lnSpc>
                <a:spcPts val="7086"/>
              </a:lnSpc>
            </a:pPr>
            <a:r>
              <a:rPr lang="en-US" b="true" sz="5061">
                <a:solidFill>
                  <a:srgbClr val="1E293B"/>
                </a:solidFill>
                <a:latin typeface="Poppins Semi-Bold"/>
                <a:ea typeface="Poppins Semi-Bold"/>
                <a:cs typeface="Poppins Semi-Bold"/>
                <a:sym typeface="Poppins Semi-Bold"/>
              </a:rPr>
              <a:t>Telecommunication Industry</a:t>
            </a:r>
          </a:p>
        </p:txBody>
      </p:sp>
      <p:sp>
        <p:nvSpPr>
          <p:cNvPr name="TextBox 18" id="18"/>
          <p:cNvSpPr txBox="true"/>
          <p:nvPr/>
        </p:nvSpPr>
        <p:spPr>
          <a:xfrm rot="0">
            <a:off x="2172451" y="1101224"/>
            <a:ext cx="5353127" cy="629995"/>
          </a:xfrm>
          <a:prstGeom prst="rect">
            <a:avLst/>
          </a:prstGeom>
        </p:spPr>
        <p:txBody>
          <a:bodyPr anchor="t" rtlCol="false" tIns="0" lIns="0" bIns="0" rIns="0">
            <a:spAutoFit/>
          </a:bodyPr>
          <a:lstStyle/>
          <a:p>
            <a:pPr algn="l" marL="0" indent="0" lvl="0">
              <a:lnSpc>
                <a:spcPts val="5175"/>
              </a:lnSpc>
            </a:pPr>
            <a:r>
              <a:rPr lang="en-US" b="true" sz="3697">
                <a:solidFill>
                  <a:srgbClr val="1E293B"/>
                </a:solidFill>
                <a:latin typeface="Open Sans Bold"/>
                <a:ea typeface="Open Sans Bold"/>
                <a:cs typeface="Open Sans Bold"/>
                <a:sym typeface="Open Sans Bold"/>
              </a:rPr>
              <a:t>Nexthikes IT Solution</a:t>
            </a:r>
          </a:p>
        </p:txBody>
      </p:sp>
      <p:sp>
        <p:nvSpPr>
          <p:cNvPr name="TextBox 19" id="19"/>
          <p:cNvSpPr txBox="true"/>
          <p:nvPr/>
        </p:nvSpPr>
        <p:spPr>
          <a:xfrm rot="0">
            <a:off x="1624608" y="8028475"/>
            <a:ext cx="3976232" cy="241687"/>
          </a:xfrm>
          <a:prstGeom prst="rect">
            <a:avLst/>
          </a:prstGeom>
        </p:spPr>
        <p:txBody>
          <a:bodyPr anchor="t" rtlCol="false" tIns="0" lIns="0" bIns="0" rIns="0">
            <a:spAutoFit/>
          </a:bodyPr>
          <a:lstStyle/>
          <a:p>
            <a:pPr algn="l" marL="0" indent="0" lvl="0">
              <a:lnSpc>
                <a:spcPts val="1903"/>
              </a:lnSpc>
            </a:pPr>
            <a:r>
              <a:rPr lang="en-US" b="true" sz="1359">
                <a:solidFill>
                  <a:srgbClr val="1E293B"/>
                </a:solidFill>
                <a:latin typeface="Open Sans Bold"/>
                <a:ea typeface="Open Sans Bold"/>
                <a:cs typeface="Open Sans Bold"/>
                <a:sym typeface="Open Sans Bold"/>
              </a:rPr>
              <a:t>Data Analytics Project  |  Data Science with AI</a:t>
            </a:r>
          </a:p>
        </p:txBody>
      </p:sp>
      <p:sp>
        <p:nvSpPr>
          <p:cNvPr name="TextBox 20" id="20"/>
          <p:cNvSpPr txBox="true"/>
          <p:nvPr/>
        </p:nvSpPr>
        <p:spPr>
          <a:xfrm rot="0">
            <a:off x="1624608" y="8511884"/>
            <a:ext cx="3976232" cy="422320"/>
          </a:xfrm>
          <a:prstGeom prst="rect">
            <a:avLst/>
          </a:prstGeom>
        </p:spPr>
        <p:txBody>
          <a:bodyPr anchor="t" rtlCol="false" tIns="0" lIns="0" bIns="0" rIns="0">
            <a:spAutoFit/>
          </a:bodyPr>
          <a:lstStyle/>
          <a:p>
            <a:pPr algn="l" marL="0" indent="0" lvl="0">
              <a:lnSpc>
                <a:spcPts val="3497"/>
              </a:lnSpc>
            </a:pPr>
            <a:r>
              <a:rPr lang="en-US" sz="2498">
                <a:solidFill>
                  <a:srgbClr val="1E293B"/>
                </a:solidFill>
                <a:latin typeface="Open Sans"/>
                <a:ea typeface="Open Sans"/>
                <a:cs typeface="Open Sans"/>
                <a:sym typeface="Open Sans"/>
              </a:rPr>
              <a:t>Palvinder Singh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022616" cy="2009215"/>
            <a:chOff x="0" y="0"/>
            <a:chExt cx="796080" cy="529176"/>
          </a:xfrm>
        </p:grpSpPr>
        <p:sp>
          <p:nvSpPr>
            <p:cNvPr name="Freeform 7" id="7"/>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8" id="8"/>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7632692" y="5143500"/>
            <a:ext cx="3022616" cy="2009215"/>
            <a:chOff x="0" y="0"/>
            <a:chExt cx="796080" cy="529176"/>
          </a:xfrm>
        </p:grpSpPr>
        <p:sp>
          <p:nvSpPr>
            <p:cNvPr name="Freeform 10" id="10"/>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1" id="11"/>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4330696" y="5143500"/>
            <a:ext cx="3022616" cy="2009215"/>
            <a:chOff x="0" y="0"/>
            <a:chExt cx="796080" cy="529176"/>
          </a:xfrm>
        </p:grpSpPr>
        <p:sp>
          <p:nvSpPr>
            <p:cNvPr name="Freeform 13" id="13"/>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4" id="14"/>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10931533" y="5143500"/>
            <a:ext cx="3022616" cy="2009215"/>
            <a:chOff x="0" y="0"/>
            <a:chExt cx="796080" cy="529176"/>
          </a:xfrm>
        </p:grpSpPr>
        <p:sp>
          <p:nvSpPr>
            <p:cNvPr name="Freeform 16" id="16"/>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7" id="17"/>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14230373" y="5143500"/>
            <a:ext cx="3022616" cy="2009215"/>
            <a:chOff x="0" y="0"/>
            <a:chExt cx="796080" cy="529176"/>
          </a:xfrm>
        </p:grpSpPr>
        <p:sp>
          <p:nvSpPr>
            <p:cNvPr name="Freeform 19" id="19"/>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20" id="20"/>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1028700" y="6706187"/>
            <a:ext cx="3022616" cy="2552113"/>
            <a:chOff x="0" y="0"/>
            <a:chExt cx="796080" cy="672161"/>
          </a:xfrm>
        </p:grpSpPr>
        <p:sp>
          <p:nvSpPr>
            <p:cNvPr name="Freeform 22" id="22"/>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3" id="23"/>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4" id="24"/>
          <p:cNvGrpSpPr/>
          <p:nvPr/>
        </p:nvGrpSpPr>
        <p:grpSpPr>
          <a:xfrm rot="0">
            <a:off x="7632692" y="6706187"/>
            <a:ext cx="3022616" cy="2552113"/>
            <a:chOff x="0" y="0"/>
            <a:chExt cx="796080" cy="672161"/>
          </a:xfrm>
        </p:grpSpPr>
        <p:sp>
          <p:nvSpPr>
            <p:cNvPr name="Freeform 25" id="25"/>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6" id="26"/>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7" id="27"/>
          <p:cNvGrpSpPr/>
          <p:nvPr/>
        </p:nvGrpSpPr>
        <p:grpSpPr>
          <a:xfrm rot="0">
            <a:off x="4330696" y="6706187"/>
            <a:ext cx="3022616" cy="2552113"/>
            <a:chOff x="0" y="0"/>
            <a:chExt cx="796080" cy="672161"/>
          </a:xfrm>
        </p:grpSpPr>
        <p:sp>
          <p:nvSpPr>
            <p:cNvPr name="Freeform 28" id="28"/>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9" id="29"/>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0" id="30"/>
          <p:cNvGrpSpPr/>
          <p:nvPr/>
        </p:nvGrpSpPr>
        <p:grpSpPr>
          <a:xfrm rot="0">
            <a:off x="10931533" y="6706187"/>
            <a:ext cx="3022616" cy="2552113"/>
            <a:chOff x="0" y="0"/>
            <a:chExt cx="796080" cy="672161"/>
          </a:xfrm>
        </p:grpSpPr>
        <p:sp>
          <p:nvSpPr>
            <p:cNvPr name="Freeform 31" id="31"/>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2" id="32"/>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3" id="33"/>
          <p:cNvGrpSpPr/>
          <p:nvPr/>
        </p:nvGrpSpPr>
        <p:grpSpPr>
          <a:xfrm rot="0">
            <a:off x="14230373" y="6706187"/>
            <a:ext cx="3022616" cy="2552113"/>
            <a:chOff x="0" y="0"/>
            <a:chExt cx="796080" cy="672161"/>
          </a:xfrm>
        </p:grpSpPr>
        <p:sp>
          <p:nvSpPr>
            <p:cNvPr name="Freeform 34" id="34"/>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5" id="35"/>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6" id="36"/>
          <p:cNvGrpSpPr/>
          <p:nvPr/>
        </p:nvGrpSpPr>
        <p:grpSpPr>
          <a:xfrm rot="-5400000">
            <a:off x="2258762"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9" id="39"/>
          <p:cNvGrpSpPr/>
          <p:nvPr/>
        </p:nvGrpSpPr>
        <p:grpSpPr>
          <a:xfrm rot="-5400000">
            <a:off x="8862754"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2" id="42"/>
          <p:cNvGrpSpPr/>
          <p:nvPr/>
        </p:nvGrpSpPr>
        <p:grpSpPr>
          <a:xfrm rot="-5400000">
            <a:off x="5560758" y="6480088"/>
            <a:ext cx="562492" cy="452200"/>
            <a:chOff x="0" y="0"/>
            <a:chExt cx="647700" cy="520700"/>
          </a:xfrm>
        </p:grpSpPr>
        <p:sp>
          <p:nvSpPr>
            <p:cNvPr name="Freeform 43" id="4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4" id="44"/>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5" id="45"/>
          <p:cNvGrpSpPr/>
          <p:nvPr/>
        </p:nvGrpSpPr>
        <p:grpSpPr>
          <a:xfrm rot="-5400000">
            <a:off x="12161595" y="6480088"/>
            <a:ext cx="562492" cy="452200"/>
            <a:chOff x="0" y="0"/>
            <a:chExt cx="647700" cy="520700"/>
          </a:xfrm>
        </p:grpSpPr>
        <p:sp>
          <p:nvSpPr>
            <p:cNvPr name="Freeform 46" id="4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7" id="47"/>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8" id="48"/>
          <p:cNvGrpSpPr/>
          <p:nvPr/>
        </p:nvGrpSpPr>
        <p:grpSpPr>
          <a:xfrm rot="-5400000">
            <a:off x="15460435" y="6480088"/>
            <a:ext cx="562492" cy="452200"/>
            <a:chOff x="0" y="0"/>
            <a:chExt cx="647700" cy="520700"/>
          </a:xfrm>
        </p:grpSpPr>
        <p:sp>
          <p:nvSpPr>
            <p:cNvPr name="Freeform 49" id="4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50" id="50"/>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sp>
        <p:nvSpPr>
          <p:cNvPr name="Freeform 51" id="51"/>
          <p:cNvSpPr/>
          <p:nvPr/>
        </p:nvSpPr>
        <p:spPr>
          <a:xfrm flipH="false" flipV="false" rot="0">
            <a:off x="9191623" y="1346434"/>
            <a:ext cx="6839202" cy="3487993"/>
          </a:xfrm>
          <a:custGeom>
            <a:avLst/>
            <a:gdLst/>
            <a:ahLst/>
            <a:cxnLst/>
            <a:rect r="r" b="b" t="t" l="l"/>
            <a:pathLst>
              <a:path h="3487993" w="6839202">
                <a:moveTo>
                  <a:pt x="0" y="0"/>
                </a:moveTo>
                <a:lnTo>
                  <a:pt x="6839202" y="0"/>
                </a:lnTo>
                <a:lnTo>
                  <a:pt x="6839202" y="3487993"/>
                </a:lnTo>
                <a:lnTo>
                  <a:pt x="0" y="3487993"/>
                </a:lnTo>
                <a:lnTo>
                  <a:pt x="0" y="0"/>
                </a:lnTo>
                <a:close/>
              </a:path>
            </a:pathLst>
          </a:custGeom>
          <a:blipFill>
            <a:blip r:embed="rId4"/>
            <a:stretch>
              <a:fillRect l="0" t="0" r="0" b="0"/>
            </a:stretch>
          </a:blipFill>
        </p:spPr>
      </p:sp>
      <p:sp>
        <p:nvSpPr>
          <p:cNvPr name="TextBox 52" id="52"/>
          <p:cNvSpPr txBox="true"/>
          <p:nvPr/>
        </p:nvSpPr>
        <p:spPr>
          <a:xfrm rot="0">
            <a:off x="2255701" y="1080396"/>
            <a:ext cx="3976232" cy="389256"/>
          </a:xfrm>
          <a:prstGeom prst="rect">
            <a:avLst/>
          </a:prstGeom>
        </p:spPr>
        <p:txBody>
          <a:bodyPr anchor="t" rtlCol="false" tIns="0" lIns="0" bIns="0" rIns="0">
            <a:spAutoFit/>
          </a:bodyPr>
          <a:lstStyle/>
          <a:p>
            <a:pPr algn="l" marL="0" indent="0" lvl="0">
              <a:lnSpc>
                <a:spcPts val="3219"/>
              </a:lnSpc>
            </a:pPr>
            <a:r>
              <a:rPr lang="en-US" b="true" sz="2299">
                <a:solidFill>
                  <a:srgbClr val="1E293B"/>
                </a:solidFill>
                <a:latin typeface="Open Sans Bold"/>
                <a:ea typeface="Open Sans Bold"/>
                <a:cs typeface="Open Sans Bold"/>
                <a:sym typeface="Open Sans Bold"/>
              </a:rPr>
              <a:t>Nexthikes IT Solutions</a:t>
            </a:r>
          </a:p>
        </p:txBody>
      </p:sp>
      <p:sp>
        <p:nvSpPr>
          <p:cNvPr name="TextBox 53" id="53"/>
          <p:cNvSpPr txBox="true"/>
          <p:nvPr/>
        </p:nvSpPr>
        <p:spPr>
          <a:xfrm rot="0">
            <a:off x="1873123" y="2105846"/>
            <a:ext cx="5086604" cy="1178166"/>
          </a:xfrm>
          <a:prstGeom prst="rect">
            <a:avLst/>
          </a:prstGeom>
        </p:spPr>
        <p:txBody>
          <a:bodyPr anchor="t" rtlCol="false" tIns="0" lIns="0" bIns="0" rIns="0">
            <a:spAutoFit/>
          </a:bodyPr>
          <a:lstStyle/>
          <a:p>
            <a:pPr algn="l" marL="0" indent="0" lvl="0">
              <a:lnSpc>
                <a:spcPts val="8413"/>
              </a:lnSpc>
            </a:pPr>
            <a:r>
              <a:rPr lang="en-US" b="true" sz="8585">
                <a:solidFill>
                  <a:srgbClr val="1E293B"/>
                </a:solidFill>
                <a:latin typeface="Poppins Semi-Bold"/>
                <a:ea typeface="Poppins Semi-Bold"/>
                <a:cs typeface="Poppins Semi-Bold"/>
                <a:sym typeface="Poppins Semi-Bold"/>
              </a:rPr>
              <a:t>Agenda</a:t>
            </a:r>
          </a:p>
        </p:txBody>
      </p:sp>
      <p:sp>
        <p:nvSpPr>
          <p:cNvPr name="TextBox 54" id="54"/>
          <p:cNvSpPr txBox="true"/>
          <p:nvPr/>
        </p:nvSpPr>
        <p:spPr>
          <a:xfrm rot="0">
            <a:off x="1336098" y="5486302"/>
            <a:ext cx="2408888" cy="656590"/>
          </a:xfrm>
          <a:prstGeom prst="rect">
            <a:avLst/>
          </a:prstGeom>
        </p:spPr>
        <p:txBody>
          <a:bodyPr anchor="t" rtlCol="false" tIns="0" lIns="0" bIns="0" rIns="0">
            <a:spAutoFit/>
          </a:bodyPr>
          <a:lstStyle/>
          <a:p>
            <a:pPr algn="ctr" marL="0" indent="0" lvl="0">
              <a:lnSpc>
                <a:spcPts val="2659"/>
              </a:lnSpc>
            </a:pPr>
            <a:r>
              <a:rPr lang="en-US" b="true" sz="1899">
                <a:solidFill>
                  <a:srgbClr val="1E293B"/>
                </a:solidFill>
                <a:latin typeface="Open Sans Bold"/>
                <a:ea typeface="Open Sans Bold"/>
                <a:cs typeface="Open Sans Bold"/>
                <a:sym typeface="Open Sans Bold"/>
              </a:rPr>
              <a:t>01</a:t>
            </a:r>
          </a:p>
          <a:p>
            <a:pPr algn="ctr" marL="0" indent="0" lvl="0">
              <a:lnSpc>
                <a:spcPts val="2659"/>
              </a:lnSpc>
            </a:pPr>
            <a:r>
              <a:rPr lang="en-US" b="true" sz="1899">
                <a:solidFill>
                  <a:srgbClr val="1E293B"/>
                </a:solidFill>
                <a:latin typeface="Open Sans Bold"/>
                <a:ea typeface="Open Sans Bold"/>
                <a:cs typeface="Open Sans Bold"/>
                <a:sym typeface="Open Sans Bold"/>
              </a:rPr>
              <a:t>Introduction</a:t>
            </a:r>
          </a:p>
        </p:txBody>
      </p:sp>
      <p:sp>
        <p:nvSpPr>
          <p:cNvPr name="TextBox 55" id="55"/>
          <p:cNvSpPr txBox="true"/>
          <p:nvPr/>
        </p:nvSpPr>
        <p:spPr>
          <a:xfrm rot="0">
            <a:off x="7940090" y="5486302"/>
            <a:ext cx="2408888" cy="656590"/>
          </a:xfrm>
          <a:prstGeom prst="rect">
            <a:avLst/>
          </a:prstGeom>
        </p:spPr>
        <p:txBody>
          <a:bodyPr anchor="t" rtlCol="false" tIns="0" lIns="0" bIns="0" rIns="0">
            <a:spAutoFit/>
          </a:bodyPr>
          <a:lstStyle/>
          <a:p>
            <a:pPr algn="ctr" marL="0" indent="0" lvl="0">
              <a:lnSpc>
                <a:spcPts val="2659"/>
              </a:lnSpc>
            </a:pPr>
            <a:r>
              <a:rPr lang="en-US" b="true" sz="1899">
                <a:solidFill>
                  <a:srgbClr val="1E293B"/>
                </a:solidFill>
                <a:latin typeface="Open Sans Bold"/>
                <a:ea typeface="Open Sans Bold"/>
                <a:cs typeface="Open Sans Bold"/>
                <a:sym typeface="Open Sans Bold"/>
              </a:rPr>
              <a:t>03</a:t>
            </a:r>
          </a:p>
          <a:p>
            <a:pPr algn="ctr" marL="0" indent="0" lvl="0">
              <a:lnSpc>
                <a:spcPts val="2659"/>
              </a:lnSpc>
            </a:pPr>
            <a:r>
              <a:rPr lang="en-US" b="true" sz="1899">
                <a:solidFill>
                  <a:srgbClr val="1E293B"/>
                </a:solidFill>
                <a:latin typeface="Open Sans Bold"/>
                <a:ea typeface="Open Sans Bold"/>
                <a:cs typeface="Open Sans Bold"/>
                <a:sym typeface="Open Sans Bold"/>
              </a:rPr>
              <a:t>Project Objectives</a:t>
            </a:r>
          </a:p>
        </p:txBody>
      </p:sp>
      <p:sp>
        <p:nvSpPr>
          <p:cNvPr name="TextBox 56" id="56"/>
          <p:cNvSpPr txBox="true"/>
          <p:nvPr/>
        </p:nvSpPr>
        <p:spPr>
          <a:xfrm rot="0">
            <a:off x="4638094" y="5486302"/>
            <a:ext cx="2408888" cy="656590"/>
          </a:xfrm>
          <a:prstGeom prst="rect">
            <a:avLst/>
          </a:prstGeom>
        </p:spPr>
        <p:txBody>
          <a:bodyPr anchor="t" rtlCol="false" tIns="0" lIns="0" bIns="0" rIns="0">
            <a:spAutoFit/>
          </a:bodyPr>
          <a:lstStyle/>
          <a:p>
            <a:pPr algn="ctr" marL="0" indent="0" lvl="0">
              <a:lnSpc>
                <a:spcPts val="2659"/>
              </a:lnSpc>
            </a:pPr>
            <a:r>
              <a:rPr lang="en-US" b="true" sz="1899">
                <a:solidFill>
                  <a:srgbClr val="1E293B"/>
                </a:solidFill>
                <a:latin typeface="Open Sans Bold"/>
                <a:ea typeface="Open Sans Bold"/>
                <a:cs typeface="Open Sans Bold"/>
                <a:sym typeface="Open Sans Bold"/>
              </a:rPr>
              <a:t>02</a:t>
            </a:r>
          </a:p>
          <a:p>
            <a:pPr algn="ctr" marL="0" indent="0" lvl="0">
              <a:lnSpc>
                <a:spcPts val="2659"/>
              </a:lnSpc>
            </a:pPr>
            <a:r>
              <a:rPr lang="en-US" b="true" sz="1899">
                <a:solidFill>
                  <a:srgbClr val="1E293B"/>
                </a:solidFill>
                <a:latin typeface="Open Sans Bold"/>
                <a:ea typeface="Open Sans Bold"/>
                <a:cs typeface="Open Sans Bold"/>
                <a:sym typeface="Open Sans Bold"/>
              </a:rPr>
              <a:t>Problem Statement</a:t>
            </a:r>
          </a:p>
        </p:txBody>
      </p:sp>
      <p:sp>
        <p:nvSpPr>
          <p:cNvPr name="TextBox 57" id="57"/>
          <p:cNvSpPr txBox="true"/>
          <p:nvPr/>
        </p:nvSpPr>
        <p:spPr>
          <a:xfrm rot="0">
            <a:off x="11238931" y="5486302"/>
            <a:ext cx="2408888" cy="656590"/>
          </a:xfrm>
          <a:prstGeom prst="rect">
            <a:avLst/>
          </a:prstGeom>
        </p:spPr>
        <p:txBody>
          <a:bodyPr anchor="t" rtlCol="false" tIns="0" lIns="0" bIns="0" rIns="0">
            <a:spAutoFit/>
          </a:bodyPr>
          <a:lstStyle/>
          <a:p>
            <a:pPr algn="ctr" marL="0" indent="0" lvl="0">
              <a:lnSpc>
                <a:spcPts val="2659"/>
              </a:lnSpc>
            </a:pPr>
            <a:r>
              <a:rPr lang="en-US" b="true" sz="1899">
                <a:solidFill>
                  <a:srgbClr val="1E293B"/>
                </a:solidFill>
                <a:latin typeface="Open Sans Bold"/>
                <a:ea typeface="Open Sans Bold"/>
                <a:cs typeface="Open Sans Bold"/>
                <a:sym typeface="Open Sans Bold"/>
              </a:rPr>
              <a:t>04</a:t>
            </a:r>
          </a:p>
          <a:p>
            <a:pPr algn="ctr" marL="0" indent="0" lvl="0">
              <a:lnSpc>
                <a:spcPts val="2659"/>
              </a:lnSpc>
            </a:pPr>
            <a:r>
              <a:rPr lang="en-US" b="true" sz="1899">
                <a:solidFill>
                  <a:srgbClr val="1E293B"/>
                </a:solidFill>
                <a:latin typeface="Open Sans Bold"/>
                <a:ea typeface="Open Sans Bold"/>
                <a:cs typeface="Open Sans Bold"/>
                <a:sym typeface="Open Sans Bold"/>
              </a:rPr>
              <a:t>Technologies Used</a:t>
            </a:r>
          </a:p>
        </p:txBody>
      </p:sp>
      <p:sp>
        <p:nvSpPr>
          <p:cNvPr name="TextBox 58" id="58"/>
          <p:cNvSpPr txBox="true"/>
          <p:nvPr/>
        </p:nvSpPr>
        <p:spPr>
          <a:xfrm rot="0">
            <a:off x="14537771" y="5486302"/>
            <a:ext cx="2408888" cy="656590"/>
          </a:xfrm>
          <a:prstGeom prst="rect">
            <a:avLst/>
          </a:prstGeom>
        </p:spPr>
        <p:txBody>
          <a:bodyPr anchor="t" rtlCol="false" tIns="0" lIns="0" bIns="0" rIns="0">
            <a:spAutoFit/>
          </a:bodyPr>
          <a:lstStyle/>
          <a:p>
            <a:pPr algn="ctr" marL="0" indent="0" lvl="0">
              <a:lnSpc>
                <a:spcPts val="2659"/>
              </a:lnSpc>
            </a:pPr>
            <a:r>
              <a:rPr lang="en-US" b="true" sz="1899">
                <a:solidFill>
                  <a:srgbClr val="1E293B"/>
                </a:solidFill>
                <a:latin typeface="Open Sans Bold"/>
                <a:ea typeface="Open Sans Bold"/>
                <a:cs typeface="Open Sans Bold"/>
                <a:sym typeface="Open Sans Bold"/>
              </a:rPr>
              <a:t>05</a:t>
            </a:r>
          </a:p>
          <a:p>
            <a:pPr algn="ctr" marL="0" indent="0" lvl="0">
              <a:lnSpc>
                <a:spcPts val="2659"/>
              </a:lnSpc>
            </a:pPr>
            <a:r>
              <a:rPr lang="en-US" b="true" sz="1899">
                <a:solidFill>
                  <a:srgbClr val="1E293B"/>
                </a:solidFill>
                <a:latin typeface="Open Sans Bold"/>
                <a:ea typeface="Open Sans Bold"/>
                <a:cs typeface="Open Sans Bold"/>
                <a:sym typeface="Open Sans Bold"/>
              </a:rPr>
              <a:t>Dataset Overview</a:t>
            </a:r>
          </a:p>
        </p:txBody>
      </p:sp>
      <p:sp>
        <p:nvSpPr>
          <p:cNvPr name="TextBox 59" id="59"/>
          <p:cNvSpPr txBox="true"/>
          <p:nvPr/>
        </p:nvSpPr>
        <p:spPr>
          <a:xfrm rot="0">
            <a:off x="1432349" y="7667065"/>
            <a:ext cx="2145834" cy="490721"/>
          </a:xfrm>
          <a:prstGeom prst="rect">
            <a:avLst/>
          </a:prstGeom>
        </p:spPr>
        <p:txBody>
          <a:bodyPr anchor="t" rtlCol="false" tIns="0" lIns="0" bIns="0" rIns="0">
            <a:spAutoFit/>
          </a:bodyPr>
          <a:lstStyle/>
          <a:p>
            <a:pPr algn="ctr" marL="0" indent="0" lvl="0">
              <a:lnSpc>
                <a:spcPts val="1843"/>
              </a:lnSpc>
            </a:pPr>
            <a:r>
              <a:rPr lang="en-US" b="true" sz="1881">
                <a:solidFill>
                  <a:srgbClr val="FFFFFF"/>
                </a:solidFill>
                <a:latin typeface="Poppins Semi-Bold"/>
                <a:ea typeface="Poppins Semi-Bold"/>
                <a:cs typeface="Poppins Semi-Bold"/>
                <a:sym typeface="Poppins Semi-Bold"/>
              </a:rPr>
              <a:t>06</a:t>
            </a:r>
          </a:p>
          <a:p>
            <a:pPr algn="ctr" marL="0" indent="0" lvl="0">
              <a:lnSpc>
                <a:spcPts val="1843"/>
              </a:lnSpc>
            </a:pPr>
            <a:r>
              <a:rPr lang="en-US" b="true" sz="1881">
                <a:solidFill>
                  <a:srgbClr val="FFFFFF"/>
                </a:solidFill>
                <a:latin typeface="Poppins Semi-Bold"/>
                <a:ea typeface="Poppins Semi-Bold"/>
                <a:cs typeface="Poppins Semi-Bold"/>
                <a:sym typeface="Poppins Semi-Bold"/>
              </a:rPr>
              <a:t>Data Cleaning</a:t>
            </a:r>
          </a:p>
        </p:txBody>
      </p:sp>
      <p:sp>
        <p:nvSpPr>
          <p:cNvPr name="TextBox 60" id="60"/>
          <p:cNvSpPr txBox="true"/>
          <p:nvPr/>
        </p:nvSpPr>
        <p:spPr>
          <a:xfrm rot="0">
            <a:off x="4769621" y="7667065"/>
            <a:ext cx="2145834" cy="719321"/>
          </a:xfrm>
          <a:prstGeom prst="rect">
            <a:avLst/>
          </a:prstGeom>
        </p:spPr>
        <p:txBody>
          <a:bodyPr anchor="t" rtlCol="false" tIns="0" lIns="0" bIns="0" rIns="0">
            <a:spAutoFit/>
          </a:bodyPr>
          <a:lstStyle/>
          <a:p>
            <a:pPr algn="ctr" marL="0" indent="0" lvl="0">
              <a:lnSpc>
                <a:spcPts val="1843"/>
              </a:lnSpc>
            </a:pPr>
            <a:r>
              <a:rPr lang="en-US" b="true" sz="1881">
                <a:solidFill>
                  <a:srgbClr val="FFFFFF"/>
                </a:solidFill>
                <a:latin typeface="Poppins Semi-Bold"/>
                <a:ea typeface="Poppins Semi-Bold"/>
                <a:cs typeface="Poppins Semi-Bold"/>
                <a:sym typeface="Poppins Semi-Bold"/>
              </a:rPr>
              <a:t>07</a:t>
            </a:r>
          </a:p>
          <a:p>
            <a:pPr algn="ctr" marL="0" indent="0" lvl="0">
              <a:lnSpc>
                <a:spcPts val="1843"/>
              </a:lnSpc>
            </a:pPr>
            <a:r>
              <a:rPr lang="en-US" b="true" sz="1881">
                <a:solidFill>
                  <a:srgbClr val="FFFFFF"/>
                </a:solidFill>
                <a:latin typeface="Poppins Semi-Bold"/>
                <a:ea typeface="Poppins Semi-Bold"/>
                <a:cs typeface="Poppins Semi-Bold"/>
                <a:sym typeface="Poppins Semi-Bold"/>
              </a:rPr>
              <a:t>Exploratory Data Analysis</a:t>
            </a:r>
          </a:p>
        </p:txBody>
      </p:sp>
      <p:sp>
        <p:nvSpPr>
          <p:cNvPr name="TextBox 61" id="61"/>
          <p:cNvSpPr txBox="true"/>
          <p:nvPr/>
        </p:nvSpPr>
        <p:spPr>
          <a:xfrm rot="0">
            <a:off x="8067687" y="7667065"/>
            <a:ext cx="2145834" cy="719321"/>
          </a:xfrm>
          <a:prstGeom prst="rect">
            <a:avLst/>
          </a:prstGeom>
        </p:spPr>
        <p:txBody>
          <a:bodyPr anchor="t" rtlCol="false" tIns="0" lIns="0" bIns="0" rIns="0">
            <a:spAutoFit/>
          </a:bodyPr>
          <a:lstStyle/>
          <a:p>
            <a:pPr algn="ctr" marL="0" indent="0" lvl="0">
              <a:lnSpc>
                <a:spcPts val="1843"/>
              </a:lnSpc>
            </a:pPr>
            <a:r>
              <a:rPr lang="en-US" b="true" sz="1881">
                <a:solidFill>
                  <a:srgbClr val="FFFFFF"/>
                </a:solidFill>
                <a:latin typeface="Poppins Semi-Bold"/>
                <a:ea typeface="Poppins Semi-Bold"/>
                <a:cs typeface="Poppins Semi-Bold"/>
                <a:sym typeface="Poppins Semi-Bold"/>
              </a:rPr>
              <a:t>08</a:t>
            </a:r>
          </a:p>
          <a:p>
            <a:pPr algn="ctr" marL="0" indent="0" lvl="0">
              <a:lnSpc>
                <a:spcPts val="1843"/>
              </a:lnSpc>
            </a:pPr>
            <a:r>
              <a:rPr lang="en-US" b="true" sz="1881">
                <a:solidFill>
                  <a:srgbClr val="FFFFFF"/>
                </a:solidFill>
                <a:latin typeface="Poppins Semi-Bold"/>
                <a:ea typeface="Poppins Semi-Bold"/>
                <a:cs typeface="Poppins Semi-Bold"/>
                <a:sym typeface="Poppins Semi-Bold"/>
              </a:rPr>
              <a:t>User Engagement</a:t>
            </a:r>
          </a:p>
        </p:txBody>
      </p:sp>
      <p:sp>
        <p:nvSpPr>
          <p:cNvPr name="TextBox 62" id="62"/>
          <p:cNvSpPr txBox="true"/>
          <p:nvPr/>
        </p:nvSpPr>
        <p:spPr>
          <a:xfrm rot="0">
            <a:off x="11407783" y="7667065"/>
            <a:ext cx="2145834" cy="490721"/>
          </a:xfrm>
          <a:prstGeom prst="rect">
            <a:avLst/>
          </a:prstGeom>
        </p:spPr>
        <p:txBody>
          <a:bodyPr anchor="t" rtlCol="false" tIns="0" lIns="0" bIns="0" rIns="0">
            <a:spAutoFit/>
          </a:bodyPr>
          <a:lstStyle/>
          <a:p>
            <a:pPr algn="ctr" marL="0" indent="0" lvl="0">
              <a:lnSpc>
                <a:spcPts val="1843"/>
              </a:lnSpc>
            </a:pPr>
            <a:r>
              <a:rPr lang="en-US" b="true" sz="1881">
                <a:solidFill>
                  <a:srgbClr val="FFFFFF"/>
                </a:solidFill>
                <a:latin typeface="Poppins Semi-Bold"/>
                <a:ea typeface="Poppins Semi-Bold"/>
                <a:cs typeface="Poppins Semi-Bold"/>
                <a:sym typeface="Poppins Semi-Bold"/>
              </a:rPr>
              <a:t>09</a:t>
            </a:r>
          </a:p>
          <a:p>
            <a:pPr algn="ctr" marL="0" indent="0" lvl="0">
              <a:lnSpc>
                <a:spcPts val="1843"/>
              </a:lnSpc>
            </a:pPr>
            <a:r>
              <a:rPr lang="en-US" b="true" sz="1881">
                <a:solidFill>
                  <a:srgbClr val="FFFFFF"/>
                </a:solidFill>
                <a:latin typeface="Poppins Semi-Bold"/>
                <a:ea typeface="Poppins Semi-Bold"/>
                <a:cs typeface="Poppins Semi-Bold"/>
                <a:sym typeface="Poppins Semi-Bold"/>
              </a:rPr>
              <a:t>User Experience</a:t>
            </a:r>
          </a:p>
        </p:txBody>
      </p:sp>
      <p:sp>
        <p:nvSpPr>
          <p:cNvPr name="TextBox 63" id="63"/>
          <p:cNvSpPr txBox="true"/>
          <p:nvPr/>
        </p:nvSpPr>
        <p:spPr>
          <a:xfrm rot="0">
            <a:off x="14706623" y="7667065"/>
            <a:ext cx="2145834" cy="719321"/>
          </a:xfrm>
          <a:prstGeom prst="rect">
            <a:avLst/>
          </a:prstGeom>
        </p:spPr>
        <p:txBody>
          <a:bodyPr anchor="t" rtlCol="false" tIns="0" lIns="0" bIns="0" rIns="0">
            <a:spAutoFit/>
          </a:bodyPr>
          <a:lstStyle/>
          <a:p>
            <a:pPr algn="ctr" marL="0" indent="0" lvl="0">
              <a:lnSpc>
                <a:spcPts val="1843"/>
              </a:lnSpc>
            </a:pPr>
            <a:r>
              <a:rPr lang="en-US" b="true" sz="1881">
                <a:solidFill>
                  <a:srgbClr val="FFFFFF"/>
                </a:solidFill>
                <a:latin typeface="Poppins Semi-Bold"/>
                <a:ea typeface="Poppins Semi-Bold"/>
                <a:cs typeface="Poppins Semi-Bold"/>
                <a:sym typeface="Poppins Semi-Bold"/>
              </a:rPr>
              <a:t>10</a:t>
            </a:r>
          </a:p>
          <a:p>
            <a:pPr algn="ctr" marL="0" indent="0" lvl="0">
              <a:lnSpc>
                <a:spcPts val="1843"/>
              </a:lnSpc>
            </a:pPr>
            <a:r>
              <a:rPr lang="en-US" b="true" sz="1881">
                <a:solidFill>
                  <a:srgbClr val="FFFFFF"/>
                </a:solidFill>
                <a:latin typeface="Poppins Semi-Bold"/>
                <a:ea typeface="Poppins Semi-Bold"/>
                <a:cs typeface="Poppins Semi-Bold"/>
                <a:sym typeface="Poppins Semi-Bold"/>
              </a:rPr>
              <a:t>Business Insights &amp; 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596462" y="1128021"/>
            <a:ext cx="7662838" cy="3642637"/>
            <a:chOff x="0" y="0"/>
            <a:chExt cx="1187174" cy="564340"/>
          </a:xfrm>
        </p:grpSpPr>
        <p:sp>
          <p:nvSpPr>
            <p:cNvPr name="Freeform 7" id="7"/>
            <p:cNvSpPr/>
            <p:nvPr/>
          </p:nvSpPr>
          <p:spPr>
            <a:xfrm flipH="false" flipV="false" rot="0">
              <a:off x="0" y="0"/>
              <a:ext cx="1187174" cy="564340"/>
            </a:xfrm>
            <a:custGeom>
              <a:avLst/>
              <a:gdLst/>
              <a:ahLst/>
              <a:cxnLst/>
              <a:rect r="r" b="b" t="t" l="l"/>
              <a:pathLst>
                <a:path h="564340" w="1187174">
                  <a:moveTo>
                    <a:pt x="14144" y="0"/>
                  </a:moveTo>
                  <a:lnTo>
                    <a:pt x="1173030" y="0"/>
                  </a:lnTo>
                  <a:cubicBezTo>
                    <a:pt x="1180841" y="0"/>
                    <a:pt x="1187174" y="6333"/>
                    <a:pt x="1187174" y="14144"/>
                  </a:cubicBezTo>
                  <a:lnTo>
                    <a:pt x="1187174" y="550195"/>
                  </a:lnTo>
                  <a:cubicBezTo>
                    <a:pt x="1187174" y="553947"/>
                    <a:pt x="1185684" y="557544"/>
                    <a:pt x="1183031" y="560197"/>
                  </a:cubicBezTo>
                  <a:cubicBezTo>
                    <a:pt x="1180379" y="562850"/>
                    <a:pt x="1176781" y="564340"/>
                    <a:pt x="1173030" y="564340"/>
                  </a:cubicBezTo>
                  <a:lnTo>
                    <a:pt x="14144" y="564340"/>
                  </a:lnTo>
                  <a:cubicBezTo>
                    <a:pt x="10393" y="564340"/>
                    <a:pt x="6795" y="562850"/>
                    <a:pt x="4143" y="560197"/>
                  </a:cubicBezTo>
                  <a:cubicBezTo>
                    <a:pt x="1490" y="557544"/>
                    <a:pt x="0" y="553947"/>
                    <a:pt x="0" y="550195"/>
                  </a:cubicBezTo>
                  <a:lnTo>
                    <a:pt x="0" y="14144"/>
                  </a:lnTo>
                  <a:cubicBezTo>
                    <a:pt x="0" y="10393"/>
                    <a:pt x="1490" y="6795"/>
                    <a:pt x="4143" y="4143"/>
                  </a:cubicBezTo>
                  <a:cubicBezTo>
                    <a:pt x="6795" y="1490"/>
                    <a:pt x="10393" y="0"/>
                    <a:pt x="14144" y="0"/>
                  </a:cubicBezTo>
                  <a:close/>
                </a:path>
              </a:pathLst>
            </a:custGeom>
            <a:blipFill>
              <a:blip r:embed="rId4"/>
              <a:stretch>
                <a:fillRect l="0" t="-93" r="0" b="-93"/>
              </a:stretch>
            </a:blipFill>
          </p:spPr>
        </p:sp>
      </p:grpSp>
      <p:sp>
        <p:nvSpPr>
          <p:cNvPr name="TextBox 8" id="8"/>
          <p:cNvSpPr txBox="true"/>
          <p:nvPr/>
        </p:nvSpPr>
        <p:spPr>
          <a:xfrm rot="0">
            <a:off x="2255701" y="1099446"/>
            <a:ext cx="3976232" cy="629771"/>
          </a:xfrm>
          <a:prstGeom prst="rect">
            <a:avLst/>
          </a:prstGeom>
        </p:spPr>
        <p:txBody>
          <a:bodyPr anchor="t" rtlCol="false" tIns="0" lIns="0" bIns="0" rIns="0">
            <a:spAutoFit/>
          </a:bodyPr>
          <a:lstStyle/>
          <a:p>
            <a:pPr algn="l" marL="0" indent="0" lvl="0">
              <a:lnSpc>
                <a:spcPts val="2563"/>
              </a:lnSpc>
            </a:pPr>
            <a:r>
              <a:rPr lang="en-US" b="true" sz="1830">
                <a:solidFill>
                  <a:srgbClr val="1E293B"/>
                </a:solidFill>
                <a:latin typeface="Open Sans Bold"/>
                <a:ea typeface="Open Sans Bold"/>
                <a:cs typeface="Open Sans Bold"/>
                <a:sym typeface="Open Sans Bold"/>
              </a:rPr>
              <a:t>User Analytics in Telecommunication Industry</a:t>
            </a:r>
          </a:p>
        </p:txBody>
      </p:sp>
      <p:sp>
        <p:nvSpPr>
          <p:cNvPr name="TextBox 9" id="9"/>
          <p:cNvSpPr txBox="true"/>
          <p:nvPr/>
        </p:nvSpPr>
        <p:spPr>
          <a:xfrm rot="0">
            <a:off x="1028700" y="2324088"/>
            <a:ext cx="5515802" cy="964311"/>
          </a:xfrm>
          <a:prstGeom prst="rect">
            <a:avLst/>
          </a:prstGeom>
        </p:spPr>
        <p:txBody>
          <a:bodyPr anchor="t" rtlCol="false" tIns="0" lIns="0" bIns="0" rIns="0">
            <a:spAutoFit/>
          </a:bodyPr>
          <a:lstStyle/>
          <a:p>
            <a:pPr algn="l" marL="0" indent="0" lvl="0">
              <a:lnSpc>
                <a:spcPts val="6762"/>
              </a:lnSpc>
            </a:pPr>
            <a:r>
              <a:rPr lang="en-US" b="true" sz="6900">
                <a:solidFill>
                  <a:srgbClr val="1E293B"/>
                </a:solidFill>
                <a:latin typeface="Poppins Semi-Bold"/>
                <a:ea typeface="Poppins Semi-Bold"/>
                <a:cs typeface="Poppins Semi-Bold"/>
                <a:sym typeface="Poppins Semi-Bold"/>
              </a:rPr>
              <a:t>Introduction</a:t>
            </a:r>
          </a:p>
        </p:txBody>
      </p:sp>
      <p:sp>
        <p:nvSpPr>
          <p:cNvPr name="TextBox 10" id="10"/>
          <p:cNvSpPr txBox="true"/>
          <p:nvPr/>
        </p:nvSpPr>
        <p:spPr>
          <a:xfrm rot="0">
            <a:off x="1028700" y="6664548"/>
            <a:ext cx="7662838" cy="2572206"/>
          </a:xfrm>
          <a:prstGeom prst="rect">
            <a:avLst/>
          </a:prstGeom>
        </p:spPr>
        <p:txBody>
          <a:bodyPr anchor="t" rtlCol="false" tIns="0" lIns="0" bIns="0" rIns="0">
            <a:spAutoFit/>
          </a:bodyPr>
          <a:lstStyle/>
          <a:p>
            <a:pPr algn="l" marL="0" indent="0" lvl="0">
              <a:lnSpc>
                <a:spcPts val="2599"/>
              </a:lnSpc>
            </a:pPr>
            <a:r>
              <a:rPr lang="en-US" sz="1857">
                <a:solidFill>
                  <a:srgbClr val="1E293B"/>
                </a:solidFill>
                <a:latin typeface="Open Sans"/>
                <a:ea typeface="Open Sans"/>
                <a:cs typeface="Open Sans"/>
                <a:sym typeface="Open Sans"/>
              </a:rPr>
              <a:t>Telecom companies generate massive volumes of customer usage data every single day. This data encompasses user behavior, handset preferences, session durations, download and upload activity, and network quality metrics.</a:t>
            </a:r>
          </a:p>
          <a:p>
            <a:pPr algn="l" marL="0" indent="0" lvl="0">
              <a:lnSpc>
                <a:spcPts val="2599"/>
              </a:lnSpc>
            </a:pPr>
            <a:r>
              <a:rPr lang="en-US" sz="1857">
                <a:solidFill>
                  <a:srgbClr val="1E293B"/>
                </a:solidFill>
                <a:latin typeface="Open Sans"/>
                <a:ea typeface="Open Sans"/>
                <a:cs typeface="Open Sans"/>
                <a:sym typeface="Open Sans"/>
              </a:rPr>
              <a:t>Analyzing this data is essential to understanding how customers interact with telecom services and infrastructure. Data-driven insights enable providers to proactively address performance bottlenecks and service gaps.</a:t>
            </a:r>
          </a:p>
        </p:txBody>
      </p:sp>
      <p:sp>
        <p:nvSpPr>
          <p:cNvPr name="TextBox 11" id="11"/>
          <p:cNvSpPr txBox="true"/>
          <p:nvPr/>
        </p:nvSpPr>
        <p:spPr>
          <a:xfrm rot="0">
            <a:off x="9596462" y="6664548"/>
            <a:ext cx="7662838" cy="2248356"/>
          </a:xfrm>
          <a:prstGeom prst="rect">
            <a:avLst/>
          </a:prstGeom>
        </p:spPr>
        <p:txBody>
          <a:bodyPr anchor="t" rtlCol="false" tIns="0" lIns="0" bIns="0" rIns="0">
            <a:spAutoFit/>
          </a:bodyPr>
          <a:lstStyle/>
          <a:p>
            <a:pPr algn="l" marL="0" indent="0" lvl="0">
              <a:lnSpc>
                <a:spcPts val="2599"/>
              </a:lnSpc>
            </a:pPr>
            <a:r>
              <a:rPr lang="en-US" sz="1857">
                <a:solidFill>
                  <a:srgbClr val="1E293B"/>
                </a:solidFill>
                <a:latin typeface="Open Sans"/>
                <a:ea typeface="Open Sans"/>
                <a:cs typeface="Open Sans"/>
                <a:sym typeface="Open Sans"/>
              </a:rPr>
              <a:t>By leveraging advanced analytics, telecom operators can identify patterns in user engagement, segment customers by behavior, and evaluate network performance across regions and device types.</a:t>
            </a:r>
          </a:p>
          <a:p>
            <a:pPr algn="l" marL="0" indent="0" lvl="0">
              <a:lnSpc>
                <a:spcPts val="2599"/>
              </a:lnSpc>
            </a:pPr>
            <a:r>
              <a:rPr lang="en-US" sz="1857">
                <a:solidFill>
                  <a:srgbClr val="1E293B"/>
                </a:solidFill>
                <a:latin typeface="Open Sans"/>
                <a:ea typeface="Open Sans"/>
                <a:cs typeface="Open Sans"/>
                <a:sym typeface="Open Sans"/>
              </a:rPr>
              <a:t>These insights directly drive improvements in service quality, customer satisfaction, and retention — forming the foundation for strategic decision-making and competitive advantage in the modern telecom industry.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596462" y="1128021"/>
            <a:ext cx="7662838" cy="3642637"/>
            <a:chOff x="0" y="0"/>
            <a:chExt cx="1187174" cy="564340"/>
          </a:xfrm>
        </p:grpSpPr>
        <p:sp>
          <p:nvSpPr>
            <p:cNvPr name="Freeform 7" id="7"/>
            <p:cNvSpPr/>
            <p:nvPr/>
          </p:nvSpPr>
          <p:spPr>
            <a:xfrm flipH="false" flipV="false" rot="0">
              <a:off x="0" y="0"/>
              <a:ext cx="1187174" cy="564340"/>
            </a:xfrm>
            <a:custGeom>
              <a:avLst/>
              <a:gdLst/>
              <a:ahLst/>
              <a:cxnLst/>
              <a:rect r="r" b="b" t="t" l="l"/>
              <a:pathLst>
                <a:path h="564340" w="1187174">
                  <a:moveTo>
                    <a:pt x="14144" y="0"/>
                  </a:moveTo>
                  <a:lnTo>
                    <a:pt x="1173030" y="0"/>
                  </a:lnTo>
                  <a:cubicBezTo>
                    <a:pt x="1180841" y="0"/>
                    <a:pt x="1187174" y="6333"/>
                    <a:pt x="1187174" y="14144"/>
                  </a:cubicBezTo>
                  <a:lnTo>
                    <a:pt x="1187174" y="550195"/>
                  </a:lnTo>
                  <a:cubicBezTo>
                    <a:pt x="1187174" y="553947"/>
                    <a:pt x="1185684" y="557544"/>
                    <a:pt x="1183031" y="560197"/>
                  </a:cubicBezTo>
                  <a:cubicBezTo>
                    <a:pt x="1180379" y="562850"/>
                    <a:pt x="1176781" y="564340"/>
                    <a:pt x="1173030" y="564340"/>
                  </a:cubicBezTo>
                  <a:lnTo>
                    <a:pt x="14144" y="564340"/>
                  </a:lnTo>
                  <a:cubicBezTo>
                    <a:pt x="10393" y="564340"/>
                    <a:pt x="6795" y="562850"/>
                    <a:pt x="4143" y="560197"/>
                  </a:cubicBezTo>
                  <a:cubicBezTo>
                    <a:pt x="1490" y="557544"/>
                    <a:pt x="0" y="553947"/>
                    <a:pt x="0" y="550195"/>
                  </a:cubicBezTo>
                  <a:lnTo>
                    <a:pt x="0" y="14144"/>
                  </a:lnTo>
                  <a:cubicBezTo>
                    <a:pt x="0" y="10393"/>
                    <a:pt x="1490" y="6795"/>
                    <a:pt x="4143" y="4143"/>
                  </a:cubicBezTo>
                  <a:cubicBezTo>
                    <a:pt x="6795" y="1490"/>
                    <a:pt x="10393" y="0"/>
                    <a:pt x="14144" y="0"/>
                  </a:cubicBezTo>
                  <a:close/>
                </a:path>
              </a:pathLst>
            </a:custGeom>
            <a:blipFill>
              <a:blip r:embed="rId4"/>
              <a:stretch>
                <a:fillRect l="0" t="-93" r="0" b="-93"/>
              </a:stretch>
            </a:blipFill>
          </p:spPr>
        </p:sp>
      </p:grpSp>
      <p:sp>
        <p:nvSpPr>
          <p:cNvPr name="TextBox 8" id="8"/>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9" id="9"/>
          <p:cNvSpPr txBox="true"/>
          <p:nvPr/>
        </p:nvSpPr>
        <p:spPr>
          <a:xfrm rot="0">
            <a:off x="1028700" y="2324088"/>
            <a:ext cx="5515802" cy="21188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Problem Statement</a:t>
            </a:r>
          </a:p>
        </p:txBody>
      </p:sp>
      <p:sp>
        <p:nvSpPr>
          <p:cNvPr name="TextBox 10" id="10"/>
          <p:cNvSpPr txBox="true"/>
          <p:nvPr/>
        </p:nvSpPr>
        <p:spPr>
          <a:xfrm rot="0">
            <a:off x="1028700" y="6655023"/>
            <a:ext cx="7662838" cy="2325440"/>
          </a:xfrm>
          <a:prstGeom prst="rect">
            <a:avLst/>
          </a:prstGeom>
        </p:spPr>
        <p:txBody>
          <a:bodyPr anchor="t" rtlCol="false" tIns="0" lIns="0" bIns="0" rIns="0">
            <a:spAutoFit/>
          </a:bodyPr>
          <a:lstStyle/>
          <a:p>
            <a:pPr algn="l" marL="0" indent="0" lvl="0">
              <a:lnSpc>
                <a:spcPts val="3076"/>
              </a:lnSpc>
            </a:pPr>
            <a:r>
              <a:rPr lang="en-US" sz="2197">
                <a:solidFill>
                  <a:srgbClr val="1E293B"/>
                </a:solidFill>
                <a:latin typeface="Open Sans"/>
                <a:ea typeface="Open Sans"/>
                <a:cs typeface="Open Sans"/>
                <a:sym typeface="Open Sans"/>
              </a:rPr>
              <a:t>Understanding Customer Behavior</a:t>
            </a:r>
          </a:p>
          <a:p>
            <a:pPr algn="l" marL="0" indent="0" lvl="0">
              <a:lnSpc>
                <a:spcPts val="3076"/>
              </a:lnSpc>
            </a:pPr>
            <a:r>
              <a:rPr lang="en-US" sz="2197">
                <a:solidFill>
                  <a:srgbClr val="1E293B"/>
                </a:solidFill>
                <a:latin typeface="Open Sans"/>
                <a:ea typeface="Open Sans"/>
                <a:cs typeface="Open Sans"/>
                <a:sym typeface="Open Sans"/>
              </a:rPr>
              <a:t>Telecom companies struggle to interpret vast volumes of customer usage data. Without structured analysis, it is difficult to understand internet usage patterns, session behaviors, and handset preferences that directly influence service quality and customer satisfaction.</a:t>
            </a:r>
          </a:p>
        </p:txBody>
      </p:sp>
      <p:sp>
        <p:nvSpPr>
          <p:cNvPr name="TextBox 11" id="11"/>
          <p:cNvSpPr txBox="true"/>
          <p:nvPr/>
        </p:nvSpPr>
        <p:spPr>
          <a:xfrm rot="0">
            <a:off x="9596462" y="6655023"/>
            <a:ext cx="7662838" cy="2325440"/>
          </a:xfrm>
          <a:prstGeom prst="rect">
            <a:avLst/>
          </a:prstGeom>
        </p:spPr>
        <p:txBody>
          <a:bodyPr anchor="t" rtlCol="false" tIns="0" lIns="0" bIns="0" rIns="0">
            <a:spAutoFit/>
          </a:bodyPr>
          <a:lstStyle/>
          <a:p>
            <a:pPr algn="l" marL="0" indent="0" lvl="0">
              <a:lnSpc>
                <a:spcPts val="3076"/>
              </a:lnSpc>
            </a:pPr>
            <a:r>
              <a:rPr lang="en-US" sz="2197">
                <a:solidFill>
                  <a:srgbClr val="1E293B"/>
                </a:solidFill>
                <a:latin typeface="Open Sans"/>
                <a:ea typeface="Open Sans"/>
                <a:cs typeface="Open Sans"/>
                <a:sym typeface="Open Sans"/>
              </a:rPr>
              <a:t>Network Performance &amp; Churn Risk</a:t>
            </a:r>
          </a:p>
          <a:p>
            <a:pPr algn="l" marL="0" indent="0" lvl="0">
              <a:lnSpc>
                <a:spcPts val="3076"/>
              </a:lnSpc>
            </a:pPr>
            <a:r>
              <a:rPr lang="en-US" sz="2197">
                <a:solidFill>
                  <a:srgbClr val="1E293B"/>
                </a:solidFill>
                <a:latin typeface="Open Sans"/>
                <a:ea typeface="Open Sans"/>
                <a:cs typeface="Open Sans"/>
                <a:sym typeface="Open Sans"/>
              </a:rPr>
              <a:t>Poor network quality — including high TCP retransmission, latency, and low throughput — negatively impacts user experience and increases churn risk. Data-driven insights are essential to identify problem areas and implement targeted improvements for retention and growth.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022616" cy="2009215"/>
            <a:chOff x="0" y="0"/>
            <a:chExt cx="796080" cy="529176"/>
          </a:xfrm>
        </p:grpSpPr>
        <p:sp>
          <p:nvSpPr>
            <p:cNvPr name="Freeform 7" id="7"/>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8" id="8"/>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7632692" y="5143500"/>
            <a:ext cx="3022616" cy="2009215"/>
            <a:chOff x="0" y="0"/>
            <a:chExt cx="796080" cy="529176"/>
          </a:xfrm>
        </p:grpSpPr>
        <p:sp>
          <p:nvSpPr>
            <p:cNvPr name="Freeform 10" id="10"/>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1" id="11"/>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4330696" y="5143500"/>
            <a:ext cx="3022616" cy="2009215"/>
            <a:chOff x="0" y="0"/>
            <a:chExt cx="796080" cy="529176"/>
          </a:xfrm>
        </p:grpSpPr>
        <p:sp>
          <p:nvSpPr>
            <p:cNvPr name="Freeform 13" id="13"/>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4" id="14"/>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10931533" y="5143500"/>
            <a:ext cx="3022616" cy="2009215"/>
            <a:chOff x="0" y="0"/>
            <a:chExt cx="796080" cy="529176"/>
          </a:xfrm>
        </p:grpSpPr>
        <p:sp>
          <p:nvSpPr>
            <p:cNvPr name="Freeform 16" id="16"/>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7" id="17"/>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14230373" y="5143500"/>
            <a:ext cx="3022616" cy="2009215"/>
            <a:chOff x="0" y="0"/>
            <a:chExt cx="796080" cy="529176"/>
          </a:xfrm>
        </p:grpSpPr>
        <p:sp>
          <p:nvSpPr>
            <p:cNvPr name="Freeform 19" id="19"/>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20" id="20"/>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1028700" y="6706187"/>
            <a:ext cx="3022616" cy="2552113"/>
            <a:chOff x="0" y="0"/>
            <a:chExt cx="796080" cy="672161"/>
          </a:xfrm>
        </p:grpSpPr>
        <p:sp>
          <p:nvSpPr>
            <p:cNvPr name="Freeform 22" id="22"/>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3" id="23"/>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4" id="24"/>
          <p:cNvGrpSpPr/>
          <p:nvPr/>
        </p:nvGrpSpPr>
        <p:grpSpPr>
          <a:xfrm rot="0">
            <a:off x="7632692" y="6706187"/>
            <a:ext cx="3022616" cy="2552113"/>
            <a:chOff x="0" y="0"/>
            <a:chExt cx="796080" cy="672161"/>
          </a:xfrm>
        </p:grpSpPr>
        <p:sp>
          <p:nvSpPr>
            <p:cNvPr name="Freeform 25" id="25"/>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6" id="26"/>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7" id="27"/>
          <p:cNvGrpSpPr/>
          <p:nvPr/>
        </p:nvGrpSpPr>
        <p:grpSpPr>
          <a:xfrm rot="0">
            <a:off x="4330696" y="6706187"/>
            <a:ext cx="3022616" cy="2552113"/>
            <a:chOff x="0" y="0"/>
            <a:chExt cx="796080" cy="672161"/>
          </a:xfrm>
        </p:grpSpPr>
        <p:sp>
          <p:nvSpPr>
            <p:cNvPr name="Freeform 28" id="28"/>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9" id="29"/>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0" id="30"/>
          <p:cNvGrpSpPr/>
          <p:nvPr/>
        </p:nvGrpSpPr>
        <p:grpSpPr>
          <a:xfrm rot="0">
            <a:off x="10931533" y="6706187"/>
            <a:ext cx="3022616" cy="2552113"/>
            <a:chOff x="0" y="0"/>
            <a:chExt cx="796080" cy="672161"/>
          </a:xfrm>
        </p:grpSpPr>
        <p:sp>
          <p:nvSpPr>
            <p:cNvPr name="Freeform 31" id="31"/>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2" id="32"/>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3" id="33"/>
          <p:cNvGrpSpPr/>
          <p:nvPr/>
        </p:nvGrpSpPr>
        <p:grpSpPr>
          <a:xfrm rot="0">
            <a:off x="14230373" y="6706187"/>
            <a:ext cx="3022616" cy="2552113"/>
            <a:chOff x="0" y="0"/>
            <a:chExt cx="796080" cy="672161"/>
          </a:xfrm>
        </p:grpSpPr>
        <p:sp>
          <p:nvSpPr>
            <p:cNvPr name="Freeform 34" id="34"/>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5" id="35"/>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6" id="36"/>
          <p:cNvGrpSpPr/>
          <p:nvPr/>
        </p:nvGrpSpPr>
        <p:grpSpPr>
          <a:xfrm rot="-5400000">
            <a:off x="2258762"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9" id="39"/>
          <p:cNvGrpSpPr/>
          <p:nvPr/>
        </p:nvGrpSpPr>
        <p:grpSpPr>
          <a:xfrm rot="-5400000">
            <a:off x="8862754"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2" id="42"/>
          <p:cNvGrpSpPr/>
          <p:nvPr/>
        </p:nvGrpSpPr>
        <p:grpSpPr>
          <a:xfrm rot="-5400000">
            <a:off x="5560758" y="6480088"/>
            <a:ext cx="562492" cy="452200"/>
            <a:chOff x="0" y="0"/>
            <a:chExt cx="647700" cy="520700"/>
          </a:xfrm>
        </p:grpSpPr>
        <p:sp>
          <p:nvSpPr>
            <p:cNvPr name="Freeform 43" id="4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4" id="44"/>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5" id="45"/>
          <p:cNvGrpSpPr/>
          <p:nvPr/>
        </p:nvGrpSpPr>
        <p:grpSpPr>
          <a:xfrm rot="-5400000">
            <a:off x="12161595" y="6480088"/>
            <a:ext cx="562492" cy="452200"/>
            <a:chOff x="0" y="0"/>
            <a:chExt cx="647700" cy="520700"/>
          </a:xfrm>
        </p:grpSpPr>
        <p:sp>
          <p:nvSpPr>
            <p:cNvPr name="Freeform 46" id="4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7" id="47"/>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8" id="48"/>
          <p:cNvGrpSpPr/>
          <p:nvPr/>
        </p:nvGrpSpPr>
        <p:grpSpPr>
          <a:xfrm rot="-5400000">
            <a:off x="15460435" y="6480088"/>
            <a:ext cx="562492" cy="452200"/>
            <a:chOff x="0" y="0"/>
            <a:chExt cx="647700" cy="520700"/>
          </a:xfrm>
        </p:grpSpPr>
        <p:sp>
          <p:nvSpPr>
            <p:cNvPr name="Freeform 49" id="4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50" id="50"/>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sp>
        <p:nvSpPr>
          <p:cNvPr name="Freeform 51" id="51"/>
          <p:cNvSpPr/>
          <p:nvPr/>
        </p:nvSpPr>
        <p:spPr>
          <a:xfrm flipH="false" flipV="false" rot="0">
            <a:off x="3590999" y="1507390"/>
            <a:ext cx="5374640" cy="2364842"/>
          </a:xfrm>
          <a:custGeom>
            <a:avLst/>
            <a:gdLst/>
            <a:ahLst/>
            <a:cxnLst/>
            <a:rect r="r" b="b" t="t" l="l"/>
            <a:pathLst>
              <a:path h="2364842" w="5374640">
                <a:moveTo>
                  <a:pt x="0" y="0"/>
                </a:moveTo>
                <a:lnTo>
                  <a:pt x="5374641" y="0"/>
                </a:lnTo>
                <a:lnTo>
                  <a:pt x="5374641" y="2364841"/>
                </a:lnTo>
                <a:lnTo>
                  <a:pt x="0" y="2364841"/>
                </a:lnTo>
                <a:lnTo>
                  <a:pt x="0" y="0"/>
                </a:lnTo>
                <a:close/>
              </a:path>
            </a:pathLst>
          </a:custGeom>
          <a:blipFill>
            <a:blip r:embed="rId4"/>
            <a:stretch>
              <a:fillRect l="0" t="0" r="0" b="0"/>
            </a:stretch>
          </a:blipFill>
        </p:spPr>
      </p:sp>
      <p:sp>
        <p:nvSpPr>
          <p:cNvPr name="TextBox 52" id="52"/>
          <p:cNvSpPr txBox="true"/>
          <p:nvPr/>
        </p:nvSpPr>
        <p:spPr>
          <a:xfrm rot="0">
            <a:off x="2255701" y="1089921"/>
            <a:ext cx="3976232" cy="404599"/>
          </a:xfrm>
          <a:prstGeom prst="rect">
            <a:avLst/>
          </a:prstGeom>
        </p:spPr>
        <p:txBody>
          <a:bodyPr anchor="t" rtlCol="false" tIns="0" lIns="0" bIns="0" rIns="0">
            <a:spAutoFit/>
          </a:bodyPr>
          <a:lstStyle/>
          <a:p>
            <a:pPr algn="l" marL="0" indent="0" lvl="0">
              <a:lnSpc>
                <a:spcPts val="3424"/>
              </a:lnSpc>
            </a:pPr>
            <a:r>
              <a:rPr lang="en-US" b="true" sz="2445">
                <a:solidFill>
                  <a:srgbClr val="1E293B"/>
                </a:solidFill>
                <a:latin typeface="Open Sans Bold"/>
                <a:ea typeface="Open Sans Bold"/>
                <a:cs typeface="Open Sans Bold"/>
                <a:sym typeface="Open Sans Bold"/>
              </a:rPr>
              <a:t>Nexthikes IT Solutions</a:t>
            </a:r>
          </a:p>
        </p:txBody>
      </p:sp>
      <p:sp>
        <p:nvSpPr>
          <p:cNvPr name="TextBox 53" id="53"/>
          <p:cNvSpPr txBox="true"/>
          <p:nvPr/>
        </p:nvSpPr>
        <p:spPr>
          <a:xfrm rot="0">
            <a:off x="10280828" y="1114425"/>
            <a:ext cx="6978472" cy="2118996"/>
          </a:xfrm>
          <a:prstGeom prst="rect">
            <a:avLst/>
          </a:prstGeom>
        </p:spPr>
        <p:txBody>
          <a:bodyPr anchor="t" rtlCol="false" tIns="0" lIns="0" bIns="0" rIns="0">
            <a:spAutoFit/>
          </a:bodyPr>
          <a:lstStyle/>
          <a:p>
            <a:pPr algn="l" marL="0" indent="0" lvl="0">
              <a:lnSpc>
                <a:spcPts val="7840"/>
              </a:lnSpc>
            </a:pPr>
            <a:r>
              <a:rPr lang="en-US" b="true" sz="8000">
                <a:solidFill>
                  <a:srgbClr val="1E293B"/>
                </a:solidFill>
                <a:latin typeface="Poppins Semi-Bold"/>
                <a:ea typeface="Poppins Semi-Bold"/>
                <a:cs typeface="Poppins Semi-Bold"/>
                <a:sym typeface="Poppins Semi-Bold"/>
              </a:rPr>
              <a:t>Project Objectives</a:t>
            </a:r>
          </a:p>
        </p:txBody>
      </p:sp>
      <p:sp>
        <p:nvSpPr>
          <p:cNvPr name="TextBox 54" id="54"/>
          <p:cNvSpPr txBox="true"/>
          <p:nvPr/>
        </p:nvSpPr>
        <p:spPr>
          <a:xfrm rot="0">
            <a:off x="1336098" y="5486302"/>
            <a:ext cx="2408888" cy="833224"/>
          </a:xfrm>
          <a:prstGeom prst="rect">
            <a:avLst/>
          </a:prstGeom>
        </p:spPr>
        <p:txBody>
          <a:bodyPr anchor="t" rtlCol="false" tIns="0" lIns="0" bIns="0" rIns="0">
            <a:spAutoFit/>
          </a:bodyPr>
          <a:lstStyle/>
          <a:p>
            <a:pPr algn="ctr" marL="0" indent="0" lvl="0">
              <a:lnSpc>
                <a:spcPts val="3424"/>
              </a:lnSpc>
            </a:pPr>
            <a:r>
              <a:rPr lang="en-US" b="true" sz="2445">
                <a:solidFill>
                  <a:srgbClr val="1E293B"/>
                </a:solidFill>
                <a:latin typeface="Open Sans Bold"/>
                <a:ea typeface="Open Sans Bold"/>
                <a:cs typeface="Open Sans Bold"/>
                <a:sym typeface="Open Sans Bold"/>
              </a:rPr>
              <a:t>User &amp; Handset Analysis</a:t>
            </a:r>
          </a:p>
        </p:txBody>
      </p:sp>
      <p:sp>
        <p:nvSpPr>
          <p:cNvPr name="TextBox 55" id="55"/>
          <p:cNvSpPr txBox="true"/>
          <p:nvPr/>
        </p:nvSpPr>
        <p:spPr>
          <a:xfrm rot="0">
            <a:off x="7940090" y="5486302"/>
            <a:ext cx="2408888" cy="833224"/>
          </a:xfrm>
          <a:prstGeom prst="rect">
            <a:avLst/>
          </a:prstGeom>
        </p:spPr>
        <p:txBody>
          <a:bodyPr anchor="t" rtlCol="false" tIns="0" lIns="0" bIns="0" rIns="0">
            <a:spAutoFit/>
          </a:bodyPr>
          <a:lstStyle/>
          <a:p>
            <a:pPr algn="ctr" marL="0" indent="0" lvl="0">
              <a:lnSpc>
                <a:spcPts val="3424"/>
              </a:lnSpc>
            </a:pPr>
            <a:r>
              <a:rPr lang="en-US" b="true" sz="2445">
                <a:solidFill>
                  <a:srgbClr val="1E293B"/>
                </a:solidFill>
                <a:latin typeface="Open Sans Bold"/>
                <a:ea typeface="Open Sans Bold"/>
                <a:cs typeface="Open Sans Bold"/>
                <a:sym typeface="Open Sans Bold"/>
              </a:rPr>
              <a:t>Engagement Metrics</a:t>
            </a:r>
          </a:p>
        </p:txBody>
      </p:sp>
      <p:sp>
        <p:nvSpPr>
          <p:cNvPr name="TextBox 56" id="56"/>
          <p:cNvSpPr txBox="true"/>
          <p:nvPr/>
        </p:nvSpPr>
        <p:spPr>
          <a:xfrm rot="0">
            <a:off x="4638094" y="5486302"/>
            <a:ext cx="2408888" cy="833224"/>
          </a:xfrm>
          <a:prstGeom prst="rect">
            <a:avLst/>
          </a:prstGeom>
        </p:spPr>
        <p:txBody>
          <a:bodyPr anchor="t" rtlCol="false" tIns="0" lIns="0" bIns="0" rIns="0">
            <a:spAutoFit/>
          </a:bodyPr>
          <a:lstStyle/>
          <a:p>
            <a:pPr algn="ctr" marL="0" indent="0" lvl="0">
              <a:lnSpc>
                <a:spcPts val="3424"/>
              </a:lnSpc>
            </a:pPr>
            <a:r>
              <a:rPr lang="en-US" b="true" sz="2445">
                <a:solidFill>
                  <a:srgbClr val="1E293B"/>
                </a:solidFill>
                <a:latin typeface="Open Sans Bold"/>
                <a:ea typeface="Open Sans Bold"/>
                <a:cs typeface="Open Sans Bold"/>
                <a:sym typeface="Open Sans Bold"/>
              </a:rPr>
              <a:t>Data Behavior Study</a:t>
            </a:r>
          </a:p>
        </p:txBody>
      </p:sp>
      <p:sp>
        <p:nvSpPr>
          <p:cNvPr name="TextBox 57" id="57"/>
          <p:cNvSpPr txBox="true"/>
          <p:nvPr/>
        </p:nvSpPr>
        <p:spPr>
          <a:xfrm rot="0">
            <a:off x="11238931" y="5486302"/>
            <a:ext cx="2408888" cy="833224"/>
          </a:xfrm>
          <a:prstGeom prst="rect">
            <a:avLst/>
          </a:prstGeom>
        </p:spPr>
        <p:txBody>
          <a:bodyPr anchor="t" rtlCol="false" tIns="0" lIns="0" bIns="0" rIns="0">
            <a:spAutoFit/>
          </a:bodyPr>
          <a:lstStyle/>
          <a:p>
            <a:pPr algn="ctr" marL="0" indent="0" lvl="0">
              <a:lnSpc>
                <a:spcPts val="3424"/>
              </a:lnSpc>
            </a:pPr>
            <a:r>
              <a:rPr lang="en-US" b="true" sz="2445">
                <a:solidFill>
                  <a:srgbClr val="1E293B"/>
                </a:solidFill>
                <a:latin typeface="Open Sans Bold"/>
                <a:ea typeface="Open Sans Bold"/>
                <a:cs typeface="Open Sans Bold"/>
                <a:sym typeface="Open Sans Bold"/>
              </a:rPr>
              <a:t>Experience Evaluation</a:t>
            </a:r>
          </a:p>
        </p:txBody>
      </p:sp>
      <p:sp>
        <p:nvSpPr>
          <p:cNvPr name="TextBox 58" id="58"/>
          <p:cNvSpPr txBox="true"/>
          <p:nvPr/>
        </p:nvSpPr>
        <p:spPr>
          <a:xfrm rot="0">
            <a:off x="14537771" y="5486302"/>
            <a:ext cx="2408888" cy="833224"/>
          </a:xfrm>
          <a:prstGeom prst="rect">
            <a:avLst/>
          </a:prstGeom>
        </p:spPr>
        <p:txBody>
          <a:bodyPr anchor="t" rtlCol="false" tIns="0" lIns="0" bIns="0" rIns="0">
            <a:spAutoFit/>
          </a:bodyPr>
          <a:lstStyle/>
          <a:p>
            <a:pPr algn="ctr" marL="0" indent="0" lvl="0">
              <a:lnSpc>
                <a:spcPts val="3424"/>
              </a:lnSpc>
            </a:pPr>
            <a:r>
              <a:rPr lang="en-US" b="true" sz="2445">
                <a:solidFill>
                  <a:srgbClr val="1E293B"/>
                </a:solidFill>
                <a:latin typeface="Open Sans Bold"/>
                <a:ea typeface="Open Sans Bold"/>
                <a:cs typeface="Open Sans Bold"/>
                <a:sym typeface="Open Sans Bold"/>
              </a:rPr>
              <a:t>Business Insights</a:t>
            </a:r>
          </a:p>
        </p:txBody>
      </p:sp>
      <p:sp>
        <p:nvSpPr>
          <p:cNvPr name="TextBox 59" id="59"/>
          <p:cNvSpPr txBox="true"/>
          <p:nvPr/>
        </p:nvSpPr>
        <p:spPr>
          <a:xfrm rot="0">
            <a:off x="1432349"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01</a:t>
            </a:r>
          </a:p>
        </p:txBody>
      </p:sp>
      <p:sp>
        <p:nvSpPr>
          <p:cNvPr name="TextBox 60" id="60"/>
          <p:cNvSpPr txBox="true"/>
          <p:nvPr/>
        </p:nvSpPr>
        <p:spPr>
          <a:xfrm rot="0">
            <a:off x="4769621"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02</a:t>
            </a:r>
          </a:p>
        </p:txBody>
      </p:sp>
      <p:sp>
        <p:nvSpPr>
          <p:cNvPr name="TextBox 61" id="61"/>
          <p:cNvSpPr txBox="true"/>
          <p:nvPr/>
        </p:nvSpPr>
        <p:spPr>
          <a:xfrm rot="0">
            <a:off x="8067687"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03</a:t>
            </a:r>
          </a:p>
        </p:txBody>
      </p:sp>
      <p:sp>
        <p:nvSpPr>
          <p:cNvPr name="TextBox 62" id="62"/>
          <p:cNvSpPr txBox="true"/>
          <p:nvPr/>
        </p:nvSpPr>
        <p:spPr>
          <a:xfrm rot="0">
            <a:off x="11407783"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04</a:t>
            </a:r>
          </a:p>
        </p:txBody>
      </p:sp>
      <p:sp>
        <p:nvSpPr>
          <p:cNvPr name="TextBox 63" id="63"/>
          <p:cNvSpPr txBox="true"/>
          <p:nvPr/>
        </p:nvSpPr>
        <p:spPr>
          <a:xfrm rot="0">
            <a:off x="14706623"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022616" cy="2009215"/>
            <a:chOff x="0" y="0"/>
            <a:chExt cx="796080" cy="529176"/>
          </a:xfrm>
        </p:grpSpPr>
        <p:sp>
          <p:nvSpPr>
            <p:cNvPr name="Freeform 7" id="7"/>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8" id="8"/>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7632692" y="5143500"/>
            <a:ext cx="3022616" cy="2009215"/>
            <a:chOff x="0" y="0"/>
            <a:chExt cx="796080" cy="529176"/>
          </a:xfrm>
        </p:grpSpPr>
        <p:sp>
          <p:nvSpPr>
            <p:cNvPr name="Freeform 10" id="10"/>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1" id="11"/>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4330696" y="5143500"/>
            <a:ext cx="3022616" cy="2009215"/>
            <a:chOff x="0" y="0"/>
            <a:chExt cx="796080" cy="529176"/>
          </a:xfrm>
        </p:grpSpPr>
        <p:sp>
          <p:nvSpPr>
            <p:cNvPr name="Freeform 13" id="13"/>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4" id="14"/>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10931533" y="5143500"/>
            <a:ext cx="3022616" cy="2009215"/>
            <a:chOff x="0" y="0"/>
            <a:chExt cx="796080" cy="529176"/>
          </a:xfrm>
        </p:grpSpPr>
        <p:sp>
          <p:nvSpPr>
            <p:cNvPr name="Freeform 16" id="16"/>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7" id="17"/>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14230373" y="5143500"/>
            <a:ext cx="3022616" cy="2009215"/>
            <a:chOff x="0" y="0"/>
            <a:chExt cx="796080" cy="529176"/>
          </a:xfrm>
        </p:grpSpPr>
        <p:sp>
          <p:nvSpPr>
            <p:cNvPr name="Freeform 19" id="19"/>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20" id="20"/>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1028700" y="6706187"/>
            <a:ext cx="3022616" cy="2552113"/>
            <a:chOff x="0" y="0"/>
            <a:chExt cx="796080" cy="672161"/>
          </a:xfrm>
        </p:grpSpPr>
        <p:sp>
          <p:nvSpPr>
            <p:cNvPr name="Freeform 22" id="22"/>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3" id="23"/>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4" id="24"/>
          <p:cNvGrpSpPr/>
          <p:nvPr/>
        </p:nvGrpSpPr>
        <p:grpSpPr>
          <a:xfrm rot="0">
            <a:off x="7632692" y="6706187"/>
            <a:ext cx="3022616" cy="2552113"/>
            <a:chOff x="0" y="0"/>
            <a:chExt cx="796080" cy="672161"/>
          </a:xfrm>
        </p:grpSpPr>
        <p:sp>
          <p:nvSpPr>
            <p:cNvPr name="Freeform 25" id="25"/>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6" id="26"/>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7" id="27"/>
          <p:cNvGrpSpPr/>
          <p:nvPr/>
        </p:nvGrpSpPr>
        <p:grpSpPr>
          <a:xfrm rot="0">
            <a:off x="4330696" y="6706187"/>
            <a:ext cx="3022616" cy="2552113"/>
            <a:chOff x="0" y="0"/>
            <a:chExt cx="796080" cy="672161"/>
          </a:xfrm>
        </p:grpSpPr>
        <p:sp>
          <p:nvSpPr>
            <p:cNvPr name="Freeform 28" id="28"/>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9" id="29"/>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0" id="30"/>
          <p:cNvGrpSpPr/>
          <p:nvPr/>
        </p:nvGrpSpPr>
        <p:grpSpPr>
          <a:xfrm rot="0">
            <a:off x="10931533" y="6706187"/>
            <a:ext cx="3022616" cy="2552113"/>
            <a:chOff x="0" y="0"/>
            <a:chExt cx="796080" cy="672161"/>
          </a:xfrm>
        </p:grpSpPr>
        <p:sp>
          <p:nvSpPr>
            <p:cNvPr name="Freeform 31" id="31"/>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2" id="32"/>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3" id="33"/>
          <p:cNvGrpSpPr/>
          <p:nvPr/>
        </p:nvGrpSpPr>
        <p:grpSpPr>
          <a:xfrm rot="0">
            <a:off x="14230373" y="6706187"/>
            <a:ext cx="3022616" cy="2552113"/>
            <a:chOff x="0" y="0"/>
            <a:chExt cx="796080" cy="672161"/>
          </a:xfrm>
        </p:grpSpPr>
        <p:sp>
          <p:nvSpPr>
            <p:cNvPr name="Freeform 34" id="34"/>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5" id="35"/>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6" id="36"/>
          <p:cNvGrpSpPr/>
          <p:nvPr/>
        </p:nvGrpSpPr>
        <p:grpSpPr>
          <a:xfrm rot="-5400000">
            <a:off x="2258762"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9" id="39"/>
          <p:cNvGrpSpPr/>
          <p:nvPr/>
        </p:nvGrpSpPr>
        <p:grpSpPr>
          <a:xfrm rot="-5400000">
            <a:off x="8862754"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2" id="42"/>
          <p:cNvGrpSpPr/>
          <p:nvPr/>
        </p:nvGrpSpPr>
        <p:grpSpPr>
          <a:xfrm rot="-5400000">
            <a:off x="5560758" y="6480088"/>
            <a:ext cx="562492" cy="452200"/>
            <a:chOff x="0" y="0"/>
            <a:chExt cx="647700" cy="520700"/>
          </a:xfrm>
        </p:grpSpPr>
        <p:sp>
          <p:nvSpPr>
            <p:cNvPr name="Freeform 43" id="4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4" id="44"/>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5" id="45"/>
          <p:cNvGrpSpPr/>
          <p:nvPr/>
        </p:nvGrpSpPr>
        <p:grpSpPr>
          <a:xfrm rot="-5400000">
            <a:off x="12161595" y="6480088"/>
            <a:ext cx="562492" cy="452200"/>
            <a:chOff x="0" y="0"/>
            <a:chExt cx="647700" cy="520700"/>
          </a:xfrm>
        </p:grpSpPr>
        <p:sp>
          <p:nvSpPr>
            <p:cNvPr name="Freeform 46" id="4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7" id="47"/>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8" id="48"/>
          <p:cNvGrpSpPr/>
          <p:nvPr/>
        </p:nvGrpSpPr>
        <p:grpSpPr>
          <a:xfrm rot="-5400000">
            <a:off x="15460435" y="6480088"/>
            <a:ext cx="562492" cy="452200"/>
            <a:chOff x="0" y="0"/>
            <a:chExt cx="647700" cy="520700"/>
          </a:xfrm>
        </p:grpSpPr>
        <p:sp>
          <p:nvSpPr>
            <p:cNvPr name="Freeform 49" id="4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50" id="50"/>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sp>
        <p:nvSpPr>
          <p:cNvPr name="Freeform 51" id="51"/>
          <p:cNvSpPr/>
          <p:nvPr/>
        </p:nvSpPr>
        <p:spPr>
          <a:xfrm flipH="false" flipV="false" rot="0">
            <a:off x="1922794" y="1684541"/>
            <a:ext cx="8198068" cy="2397935"/>
          </a:xfrm>
          <a:custGeom>
            <a:avLst/>
            <a:gdLst/>
            <a:ahLst/>
            <a:cxnLst/>
            <a:rect r="r" b="b" t="t" l="l"/>
            <a:pathLst>
              <a:path h="2397935" w="8198068">
                <a:moveTo>
                  <a:pt x="0" y="0"/>
                </a:moveTo>
                <a:lnTo>
                  <a:pt x="8198068" y="0"/>
                </a:lnTo>
                <a:lnTo>
                  <a:pt x="8198068" y="2397935"/>
                </a:lnTo>
                <a:lnTo>
                  <a:pt x="0" y="2397935"/>
                </a:lnTo>
                <a:lnTo>
                  <a:pt x="0" y="0"/>
                </a:lnTo>
                <a:close/>
              </a:path>
            </a:pathLst>
          </a:custGeom>
          <a:blipFill>
            <a:blip r:embed="rId4"/>
            <a:stretch>
              <a:fillRect l="0" t="0" r="0" b="0"/>
            </a:stretch>
          </a:blipFill>
        </p:spPr>
      </p:sp>
      <p:sp>
        <p:nvSpPr>
          <p:cNvPr name="TextBox 52" id="52"/>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Savvy Finance</a:t>
            </a:r>
          </a:p>
        </p:txBody>
      </p:sp>
      <p:sp>
        <p:nvSpPr>
          <p:cNvPr name="TextBox 53" id="53"/>
          <p:cNvSpPr txBox="true"/>
          <p:nvPr/>
        </p:nvSpPr>
        <p:spPr>
          <a:xfrm rot="0">
            <a:off x="10280828" y="1114425"/>
            <a:ext cx="6978472" cy="2118996"/>
          </a:xfrm>
          <a:prstGeom prst="rect">
            <a:avLst/>
          </a:prstGeom>
        </p:spPr>
        <p:txBody>
          <a:bodyPr anchor="t" rtlCol="false" tIns="0" lIns="0" bIns="0" rIns="0">
            <a:spAutoFit/>
          </a:bodyPr>
          <a:lstStyle/>
          <a:p>
            <a:pPr algn="l" marL="0" indent="0" lvl="0">
              <a:lnSpc>
                <a:spcPts val="7840"/>
              </a:lnSpc>
            </a:pPr>
            <a:r>
              <a:rPr lang="en-US" b="true" sz="8000">
                <a:solidFill>
                  <a:srgbClr val="1E293B"/>
                </a:solidFill>
                <a:latin typeface="Poppins Semi-Bold"/>
                <a:ea typeface="Poppins Semi-Bold"/>
                <a:cs typeface="Poppins Semi-Bold"/>
                <a:sym typeface="Poppins Semi-Bold"/>
              </a:rPr>
              <a:t>Technologies Used</a:t>
            </a:r>
          </a:p>
        </p:txBody>
      </p:sp>
      <p:sp>
        <p:nvSpPr>
          <p:cNvPr name="TextBox 54" id="54"/>
          <p:cNvSpPr txBox="true"/>
          <p:nvPr/>
        </p:nvSpPr>
        <p:spPr>
          <a:xfrm rot="0">
            <a:off x="1336098"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Language</a:t>
            </a:r>
          </a:p>
        </p:txBody>
      </p:sp>
      <p:sp>
        <p:nvSpPr>
          <p:cNvPr name="TextBox 55" id="55"/>
          <p:cNvSpPr txBox="true"/>
          <p:nvPr/>
        </p:nvSpPr>
        <p:spPr>
          <a:xfrm rot="0">
            <a:off x="7940090"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Visualization</a:t>
            </a:r>
          </a:p>
        </p:txBody>
      </p:sp>
      <p:sp>
        <p:nvSpPr>
          <p:cNvPr name="TextBox 56" id="56"/>
          <p:cNvSpPr txBox="true"/>
          <p:nvPr/>
        </p:nvSpPr>
        <p:spPr>
          <a:xfrm rot="0">
            <a:off x="4638094"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Data Library</a:t>
            </a:r>
          </a:p>
        </p:txBody>
      </p:sp>
      <p:sp>
        <p:nvSpPr>
          <p:cNvPr name="TextBox 57" id="57"/>
          <p:cNvSpPr txBox="true"/>
          <p:nvPr/>
        </p:nvSpPr>
        <p:spPr>
          <a:xfrm rot="0">
            <a:off x="11238931"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Environment</a:t>
            </a:r>
          </a:p>
        </p:txBody>
      </p:sp>
      <p:sp>
        <p:nvSpPr>
          <p:cNvPr name="TextBox 58" id="58"/>
          <p:cNvSpPr txBox="true"/>
          <p:nvPr/>
        </p:nvSpPr>
        <p:spPr>
          <a:xfrm rot="0">
            <a:off x="14537771"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IDE / Tools</a:t>
            </a:r>
          </a:p>
        </p:txBody>
      </p:sp>
      <p:sp>
        <p:nvSpPr>
          <p:cNvPr name="TextBox 59" id="59"/>
          <p:cNvSpPr txBox="true"/>
          <p:nvPr/>
        </p:nvSpPr>
        <p:spPr>
          <a:xfrm rot="0">
            <a:off x="1432349" y="7686115"/>
            <a:ext cx="2145834" cy="406256"/>
          </a:xfrm>
          <a:prstGeom prst="rect">
            <a:avLst/>
          </a:prstGeom>
        </p:spPr>
        <p:txBody>
          <a:bodyPr anchor="t" rtlCol="false" tIns="0" lIns="0" bIns="0" rIns="0">
            <a:spAutoFit/>
          </a:bodyPr>
          <a:lstStyle/>
          <a:p>
            <a:pPr algn="ctr" marL="0" indent="0" lvl="0">
              <a:lnSpc>
                <a:spcPts val="2890"/>
              </a:lnSpc>
            </a:pPr>
            <a:r>
              <a:rPr lang="en-US" b="true" sz="2949">
                <a:solidFill>
                  <a:srgbClr val="FFFFFF"/>
                </a:solidFill>
                <a:latin typeface="Poppins Semi-Bold"/>
                <a:ea typeface="Poppins Semi-Bold"/>
                <a:cs typeface="Poppins Semi-Bold"/>
                <a:sym typeface="Poppins Semi-Bold"/>
              </a:rPr>
              <a:t>Python</a:t>
            </a:r>
          </a:p>
        </p:txBody>
      </p:sp>
      <p:sp>
        <p:nvSpPr>
          <p:cNvPr name="TextBox 60" id="60"/>
          <p:cNvSpPr txBox="true"/>
          <p:nvPr/>
        </p:nvSpPr>
        <p:spPr>
          <a:xfrm rot="0">
            <a:off x="4769621" y="7686115"/>
            <a:ext cx="2145834" cy="768206"/>
          </a:xfrm>
          <a:prstGeom prst="rect">
            <a:avLst/>
          </a:prstGeom>
        </p:spPr>
        <p:txBody>
          <a:bodyPr anchor="t" rtlCol="false" tIns="0" lIns="0" bIns="0" rIns="0">
            <a:spAutoFit/>
          </a:bodyPr>
          <a:lstStyle/>
          <a:p>
            <a:pPr algn="ctr" marL="0" indent="0" lvl="0">
              <a:lnSpc>
                <a:spcPts val="2890"/>
              </a:lnSpc>
            </a:pPr>
            <a:r>
              <a:rPr lang="en-US" b="true" sz="2949">
                <a:solidFill>
                  <a:srgbClr val="FFFFFF"/>
                </a:solidFill>
                <a:latin typeface="Poppins Semi-Bold"/>
                <a:ea typeface="Poppins Semi-Bold"/>
                <a:cs typeface="Poppins Semi-Bold"/>
                <a:sym typeface="Poppins Semi-Bold"/>
              </a:rPr>
              <a:t>Pandas &amp; NumPy</a:t>
            </a:r>
          </a:p>
        </p:txBody>
      </p:sp>
      <p:sp>
        <p:nvSpPr>
          <p:cNvPr name="TextBox 61" id="61"/>
          <p:cNvSpPr txBox="true"/>
          <p:nvPr/>
        </p:nvSpPr>
        <p:spPr>
          <a:xfrm rot="0">
            <a:off x="8067687" y="7686115"/>
            <a:ext cx="2145834" cy="768206"/>
          </a:xfrm>
          <a:prstGeom prst="rect">
            <a:avLst/>
          </a:prstGeom>
        </p:spPr>
        <p:txBody>
          <a:bodyPr anchor="t" rtlCol="false" tIns="0" lIns="0" bIns="0" rIns="0">
            <a:spAutoFit/>
          </a:bodyPr>
          <a:lstStyle/>
          <a:p>
            <a:pPr algn="ctr" marL="0" indent="0" lvl="0">
              <a:lnSpc>
                <a:spcPts val="2890"/>
              </a:lnSpc>
            </a:pPr>
            <a:r>
              <a:rPr lang="en-US" b="true" sz="2949">
                <a:solidFill>
                  <a:srgbClr val="FFFFFF"/>
                </a:solidFill>
                <a:latin typeface="Poppins Semi-Bold"/>
                <a:ea typeface="Poppins Semi-Bold"/>
                <a:cs typeface="Poppins Semi-Bold"/>
                <a:sym typeface="Poppins Semi-Bold"/>
              </a:rPr>
              <a:t>Matplotlib &amp; Seaborn</a:t>
            </a:r>
          </a:p>
        </p:txBody>
      </p:sp>
      <p:sp>
        <p:nvSpPr>
          <p:cNvPr name="TextBox 62" id="62"/>
          <p:cNvSpPr txBox="true"/>
          <p:nvPr/>
        </p:nvSpPr>
        <p:spPr>
          <a:xfrm rot="0">
            <a:off x="11407783" y="7686115"/>
            <a:ext cx="2145834" cy="768206"/>
          </a:xfrm>
          <a:prstGeom prst="rect">
            <a:avLst/>
          </a:prstGeom>
        </p:spPr>
        <p:txBody>
          <a:bodyPr anchor="t" rtlCol="false" tIns="0" lIns="0" bIns="0" rIns="0">
            <a:spAutoFit/>
          </a:bodyPr>
          <a:lstStyle/>
          <a:p>
            <a:pPr algn="ctr" marL="0" indent="0" lvl="0">
              <a:lnSpc>
                <a:spcPts val="2890"/>
              </a:lnSpc>
            </a:pPr>
            <a:r>
              <a:rPr lang="en-US" b="true" sz="2949">
                <a:solidFill>
                  <a:srgbClr val="FFFFFF"/>
                </a:solidFill>
                <a:latin typeface="Poppins Semi-Bold"/>
                <a:ea typeface="Poppins Semi-Bold"/>
                <a:cs typeface="Poppins Semi-Bold"/>
                <a:sym typeface="Poppins Semi-Bold"/>
              </a:rPr>
              <a:t>Jupyter Notebook</a:t>
            </a:r>
          </a:p>
        </p:txBody>
      </p:sp>
      <p:sp>
        <p:nvSpPr>
          <p:cNvPr name="TextBox 63" id="63"/>
          <p:cNvSpPr txBox="true"/>
          <p:nvPr/>
        </p:nvSpPr>
        <p:spPr>
          <a:xfrm rot="0">
            <a:off x="14706623" y="7686115"/>
            <a:ext cx="2145834" cy="768206"/>
          </a:xfrm>
          <a:prstGeom prst="rect">
            <a:avLst/>
          </a:prstGeom>
        </p:spPr>
        <p:txBody>
          <a:bodyPr anchor="t" rtlCol="false" tIns="0" lIns="0" bIns="0" rIns="0">
            <a:spAutoFit/>
          </a:bodyPr>
          <a:lstStyle/>
          <a:p>
            <a:pPr algn="ctr" marL="0" indent="0" lvl="0">
              <a:lnSpc>
                <a:spcPts val="2890"/>
              </a:lnSpc>
            </a:pPr>
            <a:r>
              <a:rPr lang="en-US" b="true" sz="2949">
                <a:solidFill>
                  <a:srgbClr val="FFFFFF"/>
                </a:solidFill>
                <a:latin typeface="Poppins Semi-Bold"/>
                <a:ea typeface="Poppins Semi-Bold"/>
                <a:cs typeface="Poppins Semi-Bold"/>
                <a:sym typeface="Poppins Semi-Bold"/>
              </a:rPr>
              <a:t>VS Code &amp; PowerPoint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928440" cy="2009215"/>
            <a:chOff x="0" y="0"/>
            <a:chExt cx="1034651" cy="529176"/>
          </a:xfrm>
        </p:grpSpPr>
        <p:sp>
          <p:nvSpPr>
            <p:cNvPr name="Freeform 7" id="7"/>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8" id="8"/>
            <p:cNvSpPr txBox="true"/>
            <p:nvPr/>
          </p:nvSpPr>
          <p:spPr>
            <a:xfrm>
              <a:off x="0" y="-47625"/>
              <a:ext cx="1034651" cy="576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5128590" y="5143500"/>
            <a:ext cx="3928440" cy="2009215"/>
            <a:chOff x="0" y="0"/>
            <a:chExt cx="1034651" cy="529176"/>
          </a:xfrm>
        </p:grpSpPr>
        <p:sp>
          <p:nvSpPr>
            <p:cNvPr name="Freeform 10" id="10"/>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11" id="11"/>
            <p:cNvSpPr txBox="true"/>
            <p:nvPr/>
          </p:nvSpPr>
          <p:spPr>
            <a:xfrm>
              <a:off x="0" y="-47625"/>
              <a:ext cx="1034651" cy="576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9228481" y="5143500"/>
            <a:ext cx="3928440" cy="2009215"/>
            <a:chOff x="0" y="0"/>
            <a:chExt cx="1034651" cy="529176"/>
          </a:xfrm>
        </p:grpSpPr>
        <p:sp>
          <p:nvSpPr>
            <p:cNvPr name="Freeform 13" id="13"/>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14" id="14"/>
            <p:cNvSpPr txBox="true"/>
            <p:nvPr/>
          </p:nvSpPr>
          <p:spPr>
            <a:xfrm>
              <a:off x="0" y="-47625"/>
              <a:ext cx="1034651" cy="576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13330860" y="5143500"/>
            <a:ext cx="3928440" cy="2009215"/>
            <a:chOff x="0" y="0"/>
            <a:chExt cx="1034651" cy="529176"/>
          </a:xfrm>
        </p:grpSpPr>
        <p:sp>
          <p:nvSpPr>
            <p:cNvPr name="Freeform 16" id="16"/>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17" id="17"/>
            <p:cNvSpPr txBox="true"/>
            <p:nvPr/>
          </p:nvSpPr>
          <p:spPr>
            <a:xfrm>
              <a:off x="0" y="-47625"/>
              <a:ext cx="1034651" cy="576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1028700" y="6706187"/>
            <a:ext cx="3928440" cy="2552113"/>
            <a:chOff x="0" y="0"/>
            <a:chExt cx="1034651" cy="672161"/>
          </a:xfrm>
        </p:grpSpPr>
        <p:sp>
          <p:nvSpPr>
            <p:cNvPr name="Freeform 19" id="19"/>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0" id="20"/>
            <p:cNvSpPr txBox="true"/>
            <p:nvPr/>
          </p:nvSpPr>
          <p:spPr>
            <a:xfrm>
              <a:off x="0" y="-47625"/>
              <a:ext cx="1034651" cy="719786"/>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5128590" y="6706187"/>
            <a:ext cx="3928440" cy="2552113"/>
            <a:chOff x="0" y="0"/>
            <a:chExt cx="1034651" cy="672161"/>
          </a:xfrm>
        </p:grpSpPr>
        <p:sp>
          <p:nvSpPr>
            <p:cNvPr name="Freeform 22" id="22"/>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3" id="23"/>
            <p:cNvSpPr txBox="true"/>
            <p:nvPr/>
          </p:nvSpPr>
          <p:spPr>
            <a:xfrm>
              <a:off x="0" y="-47625"/>
              <a:ext cx="1034651" cy="719786"/>
            </a:xfrm>
            <a:prstGeom prst="rect">
              <a:avLst/>
            </a:prstGeom>
          </p:spPr>
          <p:txBody>
            <a:bodyPr anchor="ctr" rtlCol="false" tIns="50800" lIns="50800" bIns="50800" rIns="50800"/>
            <a:lstStyle/>
            <a:p>
              <a:pPr algn="ctr" marL="0" indent="0" lvl="0">
                <a:lnSpc>
                  <a:spcPts val="3499"/>
                </a:lnSpc>
              </a:pPr>
            </a:p>
          </p:txBody>
        </p:sp>
      </p:grpSp>
      <p:grpSp>
        <p:nvGrpSpPr>
          <p:cNvPr name="Group 24" id="24"/>
          <p:cNvGrpSpPr/>
          <p:nvPr/>
        </p:nvGrpSpPr>
        <p:grpSpPr>
          <a:xfrm rot="0">
            <a:off x="9228481" y="6706187"/>
            <a:ext cx="3928440" cy="2552113"/>
            <a:chOff x="0" y="0"/>
            <a:chExt cx="1034651" cy="672161"/>
          </a:xfrm>
        </p:grpSpPr>
        <p:sp>
          <p:nvSpPr>
            <p:cNvPr name="Freeform 25" id="25"/>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6" id="26"/>
            <p:cNvSpPr txBox="true"/>
            <p:nvPr/>
          </p:nvSpPr>
          <p:spPr>
            <a:xfrm>
              <a:off x="0" y="-47625"/>
              <a:ext cx="1034651" cy="719786"/>
            </a:xfrm>
            <a:prstGeom prst="rect">
              <a:avLst/>
            </a:prstGeom>
          </p:spPr>
          <p:txBody>
            <a:bodyPr anchor="ctr" rtlCol="false" tIns="50800" lIns="50800" bIns="50800" rIns="50800"/>
            <a:lstStyle/>
            <a:p>
              <a:pPr algn="ctr" marL="0" indent="0" lvl="0">
                <a:lnSpc>
                  <a:spcPts val="3499"/>
                </a:lnSpc>
              </a:pPr>
            </a:p>
          </p:txBody>
        </p:sp>
      </p:grpSp>
      <p:grpSp>
        <p:nvGrpSpPr>
          <p:cNvPr name="Group 27" id="27"/>
          <p:cNvGrpSpPr/>
          <p:nvPr/>
        </p:nvGrpSpPr>
        <p:grpSpPr>
          <a:xfrm rot="0">
            <a:off x="13330860" y="6706187"/>
            <a:ext cx="3928440" cy="2552113"/>
            <a:chOff x="0" y="0"/>
            <a:chExt cx="1034651" cy="672161"/>
          </a:xfrm>
        </p:grpSpPr>
        <p:sp>
          <p:nvSpPr>
            <p:cNvPr name="Freeform 28" id="28"/>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9" id="29"/>
            <p:cNvSpPr txBox="true"/>
            <p:nvPr/>
          </p:nvSpPr>
          <p:spPr>
            <a:xfrm>
              <a:off x="0" y="-47625"/>
              <a:ext cx="1034651" cy="719786"/>
            </a:xfrm>
            <a:prstGeom prst="rect">
              <a:avLst/>
            </a:prstGeom>
          </p:spPr>
          <p:txBody>
            <a:bodyPr anchor="ctr" rtlCol="false" tIns="50800" lIns="50800" bIns="50800" rIns="50800"/>
            <a:lstStyle/>
            <a:p>
              <a:pPr algn="ctr" marL="0" indent="0" lvl="0">
                <a:lnSpc>
                  <a:spcPts val="3499"/>
                </a:lnSpc>
              </a:pPr>
            </a:p>
          </p:txBody>
        </p:sp>
      </p:grpSp>
      <p:grpSp>
        <p:nvGrpSpPr>
          <p:cNvPr name="Group 30" id="30"/>
          <p:cNvGrpSpPr/>
          <p:nvPr/>
        </p:nvGrpSpPr>
        <p:grpSpPr>
          <a:xfrm rot="-5400000">
            <a:off x="2711674" y="6480088"/>
            <a:ext cx="562492" cy="452200"/>
            <a:chOff x="0" y="0"/>
            <a:chExt cx="647700" cy="520700"/>
          </a:xfrm>
        </p:grpSpPr>
        <p:sp>
          <p:nvSpPr>
            <p:cNvPr name="Freeform 31" id="31"/>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2" id="32"/>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3" id="33"/>
          <p:cNvGrpSpPr/>
          <p:nvPr/>
        </p:nvGrpSpPr>
        <p:grpSpPr>
          <a:xfrm rot="-5400000">
            <a:off x="6811565" y="6480088"/>
            <a:ext cx="562492" cy="452200"/>
            <a:chOff x="0" y="0"/>
            <a:chExt cx="647700" cy="520700"/>
          </a:xfrm>
        </p:grpSpPr>
        <p:sp>
          <p:nvSpPr>
            <p:cNvPr name="Freeform 34" id="34"/>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5" id="35"/>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6" id="36"/>
          <p:cNvGrpSpPr/>
          <p:nvPr/>
        </p:nvGrpSpPr>
        <p:grpSpPr>
          <a:xfrm rot="-5400000">
            <a:off x="10912699"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9" id="39"/>
          <p:cNvGrpSpPr/>
          <p:nvPr/>
        </p:nvGrpSpPr>
        <p:grpSpPr>
          <a:xfrm rot="-5400000">
            <a:off x="15006775"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2" id="42"/>
          <p:cNvGrpSpPr/>
          <p:nvPr/>
        </p:nvGrpSpPr>
        <p:grpSpPr>
          <a:xfrm rot="0">
            <a:off x="8430452" y="1028700"/>
            <a:ext cx="8828848" cy="3169420"/>
            <a:chOff x="0" y="0"/>
            <a:chExt cx="1367820" cy="491026"/>
          </a:xfrm>
        </p:grpSpPr>
        <p:sp>
          <p:nvSpPr>
            <p:cNvPr name="Freeform 43" id="43"/>
            <p:cNvSpPr/>
            <p:nvPr/>
          </p:nvSpPr>
          <p:spPr>
            <a:xfrm flipH="false" flipV="false" rot="0">
              <a:off x="0" y="0"/>
              <a:ext cx="1367820" cy="491026"/>
            </a:xfrm>
            <a:custGeom>
              <a:avLst/>
              <a:gdLst/>
              <a:ahLst/>
              <a:cxnLst/>
              <a:rect r="r" b="b" t="t" l="l"/>
              <a:pathLst>
                <a:path h="491026" w="1367820">
                  <a:moveTo>
                    <a:pt x="12276" y="0"/>
                  </a:moveTo>
                  <a:lnTo>
                    <a:pt x="1355543" y="0"/>
                  </a:lnTo>
                  <a:cubicBezTo>
                    <a:pt x="1358799" y="0"/>
                    <a:pt x="1361922" y="1293"/>
                    <a:pt x="1364224" y="3596"/>
                  </a:cubicBezTo>
                  <a:cubicBezTo>
                    <a:pt x="1366526" y="5898"/>
                    <a:pt x="1367820" y="9021"/>
                    <a:pt x="1367820" y="12276"/>
                  </a:cubicBezTo>
                  <a:lnTo>
                    <a:pt x="1367820" y="478750"/>
                  </a:lnTo>
                  <a:cubicBezTo>
                    <a:pt x="1367820" y="482006"/>
                    <a:pt x="1366526" y="485128"/>
                    <a:pt x="1364224" y="487430"/>
                  </a:cubicBezTo>
                  <a:cubicBezTo>
                    <a:pt x="1361922" y="489733"/>
                    <a:pt x="1358799" y="491026"/>
                    <a:pt x="1355543" y="491026"/>
                  </a:cubicBezTo>
                  <a:lnTo>
                    <a:pt x="12276" y="491026"/>
                  </a:lnTo>
                  <a:cubicBezTo>
                    <a:pt x="9021" y="491026"/>
                    <a:pt x="5898" y="489733"/>
                    <a:pt x="3596" y="487430"/>
                  </a:cubicBezTo>
                  <a:cubicBezTo>
                    <a:pt x="1293" y="485128"/>
                    <a:pt x="0" y="482006"/>
                    <a:pt x="0" y="478750"/>
                  </a:cubicBezTo>
                  <a:lnTo>
                    <a:pt x="0" y="12276"/>
                  </a:lnTo>
                  <a:cubicBezTo>
                    <a:pt x="0" y="9021"/>
                    <a:pt x="1293" y="5898"/>
                    <a:pt x="3596" y="3596"/>
                  </a:cubicBezTo>
                  <a:cubicBezTo>
                    <a:pt x="5898" y="1293"/>
                    <a:pt x="9021" y="0"/>
                    <a:pt x="12276" y="0"/>
                  </a:cubicBezTo>
                  <a:close/>
                </a:path>
              </a:pathLst>
            </a:custGeom>
            <a:blipFill>
              <a:blip r:embed="rId4"/>
              <a:stretch>
                <a:fillRect l="-383" t="0" r="-383" b="0"/>
              </a:stretch>
            </a:blipFill>
          </p:spPr>
        </p:sp>
      </p:grpSp>
      <p:sp>
        <p:nvSpPr>
          <p:cNvPr name="TextBox 44" id="44"/>
          <p:cNvSpPr txBox="true"/>
          <p:nvPr/>
        </p:nvSpPr>
        <p:spPr>
          <a:xfrm rot="0">
            <a:off x="2255701" y="1099446"/>
            <a:ext cx="3976232" cy="305921"/>
          </a:xfrm>
          <a:prstGeom prst="rect">
            <a:avLst/>
          </a:prstGeom>
        </p:spPr>
        <p:txBody>
          <a:bodyPr anchor="t" rtlCol="false" tIns="0" lIns="0" bIns="0" rIns="0">
            <a:spAutoFit/>
          </a:bodyPr>
          <a:lstStyle/>
          <a:p>
            <a:pPr algn="l" marL="0" indent="0" lvl="0">
              <a:lnSpc>
                <a:spcPts val="2563"/>
              </a:lnSpc>
            </a:pPr>
            <a:r>
              <a:rPr lang="en-US" b="true" sz="1830">
                <a:solidFill>
                  <a:srgbClr val="1E293B"/>
                </a:solidFill>
                <a:latin typeface="Open Sans Bold"/>
                <a:ea typeface="Open Sans Bold"/>
                <a:cs typeface="Open Sans Bold"/>
                <a:sym typeface="Open Sans Bold"/>
              </a:rPr>
              <a:t>Nexthikes IT Solutions</a:t>
            </a:r>
          </a:p>
        </p:txBody>
      </p:sp>
      <p:sp>
        <p:nvSpPr>
          <p:cNvPr name="TextBox 45" id="45"/>
          <p:cNvSpPr txBox="true"/>
          <p:nvPr/>
        </p:nvSpPr>
        <p:spPr>
          <a:xfrm rot="0">
            <a:off x="1432349" y="5495827"/>
            <a:ext cx="3121143" cy="305921"/>
          </a:xfrm>
          <a:prstGeom prst="rect">
            <a:avLst/>
          </a:prstGeom>
        </p:spPr>
        <p:txBody>
          <a:bodyPr anchor="t" rtlCol="false" tIns="0" lIns="0" bIns="0" rIns="0">
            <a:spAutoFit/>
          </a:bodyPr>
          <a:lstStyle/>
          <a:p>
            <a:pPr algn="ctr" marL="0" indent="0" lvl="0">
              <a:lnSpc>
                <a:spcPts val="2563"/>
              </a:lnSpc>
            </a:pPr>
            <a:r>
              <a:rPr lang="en-US" b="true" sz="1830">
                <a:solidFill>
                  <a:srgbClr val="1E293B"/>
                </a:solidFill>
                <a:latin typeface="Open Sans Bold"/>
                <a:ea typeface="Open Sans Bold"/>
                <a:cs typeface="Open Sans Bold"/>
                <a:sym typeface="Open Sans Bold"/>
              </a:rPr>
              <a:t>Total Records</a:t>
            </a:r>
          </a:p>
        </p:txBody>
      </p:sp>
      <p:sp>
        <p:nvSpPr>
          <p:cNvPr name="TextBox 46" id="46"/>
          <p:cNvSpPr txBox="true"/>
          <p:nvPr/>
        </p:nvSpPr>
        <p:spPr>
          <a:xfrm rot="0">
            <a:off x="5516212" y="5495827"/>
            <a:ext cx="3121143" cy="305921"/>
          </a:xfrm>
          <a:prstGeom prst="rect">
            <a:avLst/>
          </a:prstGeom>
        </p:spPr>
        <p:txBody>
          <a:bodyPr anchor="t" rtlCol="false" tIns="0" lIns="0" bIns="0" rIns="0">
            <a:spAutoFit/>
          </a:bodyPr>
          <a:lstStyle/>
          <a:p>
            <a:pPr algn="ctr" marL="0" indent="0" lvl="0">
              <a:lnSpc>
                <a:spcPts val="2563"/>
              </a:lnSpc>
            </a:pPr>
            <a:r>
              <a:rPr lang="en-US" b="true" sz="1830">
                <a:solidFill>
                  <a:srgbClr val="1E293B"/>
                </a:solidFill>
                <a:latin typeface="Open Sans Bold"/>
                <a:ea typeface="Open Sans Bold"/>
                <a:cs typeface="Open Sans Bold"/>
                <a:sym typeface="Open Sans Bold"/>
              </a:rPr>
              <a:t>Total Features</a:t>
            </a:r>
          </a:p>
        </p:txBody>
      </p:sp>
      <p:sp>
        <p:nvSpPr>
          <p:cNvPr name="TextBox 47" id="47"/>
          <p:cNvSpPr txBox="true"/>
          <p:nvPr/>
        </p:nvSpPr>
        <p:spPr>
          <a:xfrm rot="0">
            <a:off x="9619006" y="5495827"/>
            <a:ext cx="3121143" cy="305921"/>
          </a:xfrm>
          <a:prstGeom prst="rect">
            <a:avLst/>
          </a:prstGeom>
        </p:spPr>
        <p:txBody>
          <a:bodyPr anchor="t" rtlCol="false" tIns="0" lIns="0" bIns="0" rIns="0">
            <a:spAutoFit/>
          </a:bodyPr>
          <a:lstStyle/>
          <a:p>
            <a:pPr algn="ctr" marL="0" indent="0" lvl="0">
              <a:lnSpc>
                <a:spcPts val="2563"/>
              </a:lnSpc>
            </a:pPr>
            <a:r>
              <a:rPr lang="en-US" b="true" sz="1830">
                <a:solidFill>
                  <a:srgbClr val="1E293B"/>
                </a:solidFill>
                <a:latin typeface="Open Sans Bold"/>
                <a:ea typeface="Open Sans Bold"/>
                <a:cs typeface="Open Sans Bold"/>
                <a:sym typeface="Open Sans Bold"/>
              </a:rPr>
              <a:t>Data Source</a:t>
            </a:r>
          </a:p>
        </p:txBody>
      </p:sp>
      <p:sp>
        <p:nvSpPr>
          <p:cNvPr name="TextBox 48" id="48"/>
          <p:cNvSpPr txBox="true"/>
          <p:nvPr/>
        </p:nvSpPr>
        <p:spPr>
          <a:xfrm rot="0">
            <a:off x="9633374" y="7648015"/>
            <a:ext cx="3121143" cy="629771"/>
          </a:xfrm>
          <a:prstGeom prst="rect">
            <a:avLst/>
          </a:prstGeom>
        </p:spPr>
        <p:txBody>
          <a:bodyPr anchor="t" rtlCol="false" tIns="0" lIns="0" bIns="0" rIns="0">
            <a:spAutoFit/>
          </a:bodyPr>
          <a:lstStyle/>
          <a:p>
            <a:pPr algn="ctr" marL="0" indent="0" lvl="0">
              <a:lnSpc>
                <a:spcPts val="2563"/>
              </a:lnSpc>
            </a:pPr>
            <a:r>
              <a:rPr lang="en-US" b="true" sz="1830">
                <a:solidFill>
                  <a:srgbClr val="F4F9FD"/>
                </a:solidFill>
                <a:latin typeface="Open Sans Bold"/>
                <a:ea typeface="Open Sans Bold"/>
                <a:cs typeface="Open Sans Bold"/>
                <a:sym typeface="Open Sans Bold"/>
              </a:rPr>
              <a:t>CSV Dataset, Telecom User Activity Logs</a:t>
            </a:r>
          </a:p>
        </p:txBody>
      </p:sp>
      <p:sp>
        <p:nvSpPr>
          <p:cNvPr name="TextBox 49" id="49"/>
          <p:cNvSpPr txBox="true"/>
          <p:nvPr/>
        </p:nvSpPr>
        <p:spPr>
          <a:xfrm rot="0">
            <a:off x="13727449" y="7449353"/>
            <a:ext cx="3121143" cy="1277471"/>
          </a:xfrm>
          <a:prstGeom prst="rect">
            <a:avLst/>
          </a:prstGeom>
        </p:spPr>
        <p:txBody>
          <a:bodyPr anchor="t" rtlCol="false" tIns="0" lIns="0" bIns="0" rIns="0">
            <a:spAutoFit/>
          </a:bodyPr>
          <a:lstStyle/>
          <a:p>
            <a:pPr algn="ctr" marL="0" indent="0" lvl="0">
              <a:lnSpc>
                <a:spcPts val="2563"/>
              </a:lnSpc>
            </a:pPr>
            <a:r>
              <a:rPr lang="en-US" b="true" sz="1830">
                <a:solidFill>
                  <a:srgbClr val="F4F9FD"/>
                </a:solidFill>
                <a:latin typeface="Open Sans Bold"/>
                <a:ea typeface="Open Sans Bold"/>
                <a:cs typeface="Open Sans Bold"/>
                <a:sym typeface="Open Sans Bold"/>
              </a:rPr>
              <a:t>Handset Type, Session Duration, Download/Upload, TCP, RTT, Throughput</a:t>
            </a:r>
          </a:p>
        </p:txBody>
      </p:sp>
      <p:sp>
        <p:nvSpPr>
          <p:cNvPr name="TextBox 50" id="50"/>
          <p:cNvSpPr txBox="true"/>
          <p:nvPr/>
        </p:nvSpPr>
        <p:spPr>
          <a:xfrm rot="0">
            <a:off x="13814146" y="5495827"/>
            <a:ext cx="3121143" cy="305921"/>
          </a:xfrm>
          <a:prstGeom prst="rect">
            <a:avLst/>
          </a:prstGeom>
        </p:spPr>
        <p:txBody>
          <a:bodyPr anchor="t" rtlCol="false" tIns="0" lIns="0" bIns="0" rIns="0">
            <a:spAutoFit/>
          </a:bodyPr>
          <a:lstStyle/>
          <a:p>
            <a:pPr algn="ctr" marL="0" indent="0" lvl="0">
              <a:lnSpc>
                <a:spcPts val="2563"/>
              </a:lnSpc>
            </a:pPr>
            <a:r>
              <a:rPr lang="en-US" b="true" sz="1830">
                <a:solidFill>
                  <a:srgbClr val="1E293B"/>
                </a:solidFill>
                <a:latin typeface="Open Sans Bold"/>
                <a:ea typeface="Open Sans Bold"/>
                <a:cs typeface="Open Sans Bold"/>
                <a:sym typeface="Open Sans Bold"/>
              </a:rPr>
              <a:t>Key Features</a:t>
            </a:r>
          </a:p>
        </p:txBody>
      </p:sp>
      <p:sp>
        <p:nvSpPr>
          <p:cNvPr name="TextBox 51" id="51"/>
          <p:cNvSpPr txBox="true"/>
          <p:nvPr/>
        </p:nvSpPr>
        <p:spPr>
          <a:xfrm rot="0">
            <a:off x="1028700" y="2324088"/>
            <a:ext cx="5515802" cy="21188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Dataset Overview</a:t>
            </a:r>
          </a:p>
        </p:txBody>
      </p:sp>
      <p:sp>
        <p:nvSpPr>
          <p:cNvPr name="TextBox 52" id="52"/>
          <p:cNvSpPr txBox="true"/>
          <p:nvPr/>
        </p:nvSpPr>
        <p:spPr>
          <a:xfrm rot="0">
            <a:off x="1432349" y="7714690"/>
            <a:ext cx="3089090"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150,000</a:t>
            </a:r>
          </a:p>
        </p:txBody>
      </p:sp>
      <p:sp>
        <p:nvSpPr>
          <p:cNvPr name="TextBox 53" id="53"/>
          <p:cNvSpPr txBox="true"/>
          <p:nvPr/>
        </p:nvSpPr>
        <p:spPr>
          <a:xfrm rot="0">
            <a:off x="5548266" y="7714690"/>
            <a:ext cx="3089090"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55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022616" cy="2009215"/>
            <a:chOff x="0" y="0"/>
            <a:chExt cx="796080" cy="529176"/>
          </a:xfrm>
        </p:grpSpPr>
        <p:sp>
          <p:nvSpPr>
            <p:cNvPr name="Freeform 7" id="7"/>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8" id="8"/>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7632692" y="5143500"/>
            <a:ext cx="3022616" cy="2009215"/>
            <a:chOff x="0" y="0"/>
            <a:chExt cx="796080" cy="529176"/>
          </a:xfrm>
        </p:grpSpPr>
        <p:sp>
          <p:nvSpPr>
            <p:cNvPr name="Freeform 10" id="10"/>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1" id="11"/>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4330696" y="5143500"/>
            <a:ext cx="3022616" cy="2009215"/>
            <a:chOff x="0" y="0"/>
            <a:chExt cx="796080" cy="529176"/>
          </a:xfrm>
        </p:grpSpPr>
        <p:sp>
          <p:nvSpPr>
            <p:cNvPr name="Freeform 13" id="13"/>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4" id="14"/>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10931533" y="5143500"/>
            <a:ext cx="3022616" cy="2009215"/>
            <a:chOff x="0" y="0"/>
            <a:chExt cx="796080" cy="529176"/>
          </a:xfrm>
        </p:grpSpPr>
        <p:sp>
          <p:nvSpPr>
            <p:cNvPr name="Freeform 16" id="16"/>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7" id="17"/>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14230373" y="5143500"/>
            <a:ext cx="3022616" cy="2009215"/>
            <a:chOff x="0" y="0"/>
            <a:chExt cx="796080" cy="529176"/>
          </a:xfrm>
        </p:grpSpPr>
        <p:sp>
          <p:nvSpPr>
            <p:cNvPr name="Freeform 19" id="19"/>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20" id="20"/>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1028700" y="6706187"/>
            <a:ext cx="3022616" cy="2552113"/>
            <a:chOff x="0" y="0"/>
            <a:chExt cx="796080" cy="672161"/>
          </a:xfrm>
        </p:grpSpPr>
        <p:sp>
          <p:nvSpPr>
            <p:cNvPr name="Freeform 22" id="22"/>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3" id="23"/>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4" id="24"/>
          <p:cNvGrpSpPr/>
          <p:nvPr/>
        </p:nvGrpSpPr>
        <p:grpSpPr>
          <a:xfrm rot="0">
            <a:off x="7632692" y="6706187"/>
            <a:ext cx="3022616" cy="2552113"/>
            <a:chOff x="0" y="0"/>
            <a:chExt cx="796080" cy="672161"/>
          </a:xfrm>
        </p:grpSpPr>
        <p:sp>
          <p:nvSpPr>
            <p:cNvPr name="Freeform 25" id="25"/>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6" id="26"/>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7" id="27"/>
          <p:cNvGrpSpPr/>
          <p:nvPr/>
        </p:nvGrpSpPr>
        <p:grpSpPr>
          <a:xfrm rot="0">
            <a:off x="4330696" y="6706187"/>
            <a:ext cx="3022616" cy="2552113"/>
            <a:chOff x="0" y="0"/>
            <a:chExt cx="796080" cy="672161"/>
          </a:xfrm>
        </p:grpSpPr>
        <p:sp>
          <p:nvSpPr>
            <p:cNvPr name="Freeform 28" id="28"/>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9" id="29"/>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0" id="30"/>
          <p:cNvGrpSpPr/>
          <p:nvPr/>
        </p:nvGrpSpPr>
        <p:grpSpPr>
          <a:xfrm rot="0">
            <a:off x="10931533" y="6706187"/>
            <a:ext cx="3022616" cy="2552113"/>
            <a:chOff x="0" y="0"/>
            <a:chExt cx="796080" cy="672161"/>
          </a:xfrm>
        </p:grpSpPr>
        <p:sp>
          <p:nvSpPr>
            <p:cNvPr name="Freeform 31" id="31"/>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2" id="32"/>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3" id="33"/>
          <p:cNvGrpSpPr/>
          <p:nvPr/>
        </p:nvGrpSpPr>
        <p:grpSpPr>
          <a:xfrm rot="0">
            <a:off x="14230373" y="6706187"/>
            <a:ext cx="3022616" cy="2552113"/>
            <a:chOff x="0" y="0"/>
            <a:chExt cx="796080" cy="672161"/>
          </a:xfrm>
        </p:grpSpPr>
        <p:sp>
          <p:nvSpPr>
            <p:cNvPr name="Freeform 34" id="34"/>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5" id="35"/>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6" id="36"/>
          <p:cNvGrpSpPr/>
          <p:nvPr/>
        </p:nvGrpSpPr>
        <p:grpSpPr>
          <a:xfrm rot="-5400000">
            <a:off x="2258762"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9" id="39"/>
          <p:cNvGrpSpPr/>
          <p:nvPr/>
        </p:nvGrpSpPr>
        <p:grpSpPr>
          <a:xfrm rot="-5400000">
            <a:off x="8862754"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2" id="42"/>
          <p:cNvGrpSpPr/>
          <p:nvPr/>
        </p:nvGrpSpPr>
        <p:grpSpPr>
          <a:xfrm rot="-5400000">
            <a:off x="5560758" y="6480088"/>
            <a:ext cx="562492" cy="452200"/>
            <a:chOff x="0" y="0"/>
            <a:chExt cx="647700" cy="520700"/>
          </a:xfrm>
        </p:grpSpPr>
        <p:sp>
          <p:nvSpPr>
            <p:cNvPr name="Freeform 43" id="4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4" id="44"/>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5" id="45"/>
          <p:cNvGrpSpPr/>
          <p:nvPr/>
        </p:nvGrpSpPr>
        <p:grpSpPr>
          <a:xfrm rot="-5400000">
            <a:off x="12161595" y="6480088"/>
            <a:ext cx="562492" cy="452200"/>
            <a:chOff x="0" y="0"/>
            <a:chExt cx="647700" cy="520700"/>
          </a:xfrm>
        </p:grpSpPr>
        <p:sp>
          <p:nvSpPr>
            <p:cNvPr name="Freeform 46" id="4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7" id="47"/>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8" id="48"/>
          <p:cNvGrpSpPr/>
          <p:nvPr/>
        </p:nvGrpSpPr>
        <p:grpSpPr>
          <a:xfrm rot="-5400000">
            <a:off x="15460435" y="6480088"/>
            <a:ext cx="562492" cy="452200"/>
            <a:chOff x="0" y="0"/>
            <a:chExt cx="647700" cy="520700"/>
          </a:xfrm>
        </p:grpSpPr>
        <p:sp>
          <p:nvSpPr>
            <p:cNvPr name="Freeform 49" id="4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50" id="50"/>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sp>
        <p:nvSpPr>
          <p:cNvPr name="Freeform 51" id="51"/>
          <p:cNvSpPr/>
          <p:nvPr/>
        </p:nvSpPr>
        <p:spPr>
          <a:xfrm flipH="false" flipV="false" rot="0">
            <a:off x="1937371" y="1545322"/>
            <a:ext cx="8552916" cy="2533801"/>
          </a:xfrm>
          <a:custGeom>
            <a:avLst/>
            <a:gdLst/>
            <a:ahLst/>
            <a:cxnLst/>
            <a:rect r="r" b="b" t="t" l="l"/>
            <a:pathLst>
              <a:path h="2533801" w="8552916">
                <a:moveTo>
                  <a:pt x="0" y="0"/>
                </a:moveTo>
                <a:lnTo>
                  <a:pt x="8552916" y="0"/>
                </a:lnTo>
                <a:lnTo>
                  <a:pt x="8552916" y="2533801"/>
                </a:lnTo>
                <a:lnTo>
                  <a:pt x="0" y="2533801"/>
                </a:lnTo>
                <a:lnTo>
                  <a:pt x="0" y="0"/>
                </a:lnTo>
                <a:close/>
              </a:path>
            </a:pathLst>
          </a:custGeom>
          <a:blipFill>
            <a:blip r:embed="rId4"/>
            <a:stretch>
              <a:fillRect l="0" t="0" r="0" b="0"/>
            </a:stretch>
          </a:blipFill>
        </p:spPr>
      </p:sp>
      <p:sp>
        <p:nvSpPr>
          <p:cNvPr name="TextBox 52" id="52"/>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Savvy Finance</a:t>
            </a:r>
          </a:p>
        </p:txBody>
      </p:sp>
      <p:sp>
        <p:nvSpPr>
          <p:cNvPr name="TextBox 53" id="53"/>
          <p:cNvSpPr txBox="true"/>
          <p:nvPr/>
        </p:nvSpPr>
        <p:spPr>
          <a:xfrm rot="0">
            <a:off x="10280828" y="1114425"/>
            <a:ext cx="6978472" cy="2118996"/>
          </a:xfrm>
          <a:prstGeom prst="rect">
            <a:avLst/>
          </a:prstGeom>
        </p:spPr>
        <p:txBody>
          <a:bodyPr anchor="t" rtlCol="false" tIns="0" lIns="0" bIns="0" rIns="0">
            <a:spAutoFit/>
          </a:bodyPr>
          <a:lstStyle/>
          <a:p>
            <a:pPr algn="l" marL="0" indent="0" lvl="0">
              <a:lnSpc>
                <a:spcPts val="7840"/>
              </a:lnSpc>
            </a:pPr>
            <a:r>
              <a:rPr lang="en-US" b="true" sz="8000">
                <a:solidFill>
                  <a:srgbClr val="1E293B"/>
                </a:solidFill>
                <a:latin typeface="Poppins Semi-Bold"/>
                <a:ea typeface="Poppins Semi-Bold"/>
                <a:cs typeface="Poppins Semi-Bold"/>
                <a:sym typeface="Poppins Semi-Bold"/>
              </a:rPr>
              <a:t>Data Cleaning</a:t>
            </a:r>
          </a:p>
        </p:txBody>
      </p:sp>
      <p:sp>
        <p:nvSpPr>
          <p:cNvPr name="TextBox 54" id="54"/>
          <p:cNvSpPr txBox="true"/>
          <p:nvPr/>
        </p:nvSpPr>
        <p:spPr>
          <a:xfrm rot="0">
            <a:off x="1336098"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Missing Values</a:t>
            </a:r>
          </a:p>
        </p:txBody>
      </p:sp>
      <p:sp>
        <p:nvSpPr>
          <p:cNvPr name="TextBox 55" id="55"/>
          <p:cNvSpPr txBox="true"/>
          <p:nvPr/>
        </p:nvSpPr>
        <p:spPr>
          <a:xfrm rot="0">
            <a:off x="7940090" y="5476777"/>
            <a:ext cx="2408888" cy="86047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Data Formatting</a:t>
            </a:r>
          </a:p>
        </p:txBody>
      </p:sp>
      <p:sp>
        <p:nvSpPr>
          <p:cNvPr name="TextBox 56" id="56"/>
          <p:cNvSpPr txBox="true"/>
          <p:nvPr/>
        </p:nvSpPr>
        <p:spPr>
          <a:xfrm rot="0">
            <a:off x="4638094" y="5476777"/>
            <a:ext cx="2408888" cy="86047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Remove Duplicates</a:t>
            </a:r>
          </a:p>
        </p:txBody>
      </p:sp>
      <p:sp>
        <p:nvSpPr>
          <p:cNvPr name="TextBox 57" id="57"/>
          <p:cNvSpPr txBox="true"/>
          <p:nvPr/>
        </p:nvSpPr>
        <p:spPr>
          <a:xfrm rot="0">
            <a:off x="11238931" y="5476777"/>
            <a:ext cx="2408888" cy="86047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Validate Accuracy</a:t>
            </a:r>
          </a:p>
        </p:txBody>
      </p:sp>
      <p:sp>
        <p:nvSpPr>
          <p:cNvPr name="TextBox 58" id="58"/>
          <p:cNvSpPr txBox="true"/>
          <p:nvPr/>
        </p:nvSpPr>
        <p:spPr>
          <a:xfrm rot="0">
            <a:off x="14537771" y="5476777"/>
            <a:ext cx="2408888" cy="422320"/>
          </a:xfrm>
          <a:prstGeom prst="rect">
            <a:avLst/>
          </a:prstGeom>
        </p:spPr>
        <p:txBody>
          <a:bodyPr anchor="t" rtlCol="false" tIns="0" lIns="0" bIns="0" rIns="0">
            <a:spAutoFit/>
          </a:bodyPr>
          <a:lstStyle/>
          <a:p>
            <a:pPr algn="ctr" marL="0" indent="0" lvl="0">
              <a:lnSpc>
                <a:spcPts val="3497"/>
              </a:lnSpc>
            </a:pPr>
            <a:r>
              <a:rPr lang="en-US" b="true" sz="2498">
                <a:solidFill>
                  <a:srgbClr val="1E293B"/>
                </a:solidFill>
                <a:latin typeface="Open Sans Bold"/>
                <a:ea typeface="Open Sans Bold"/>
                <a:cs typeface="Open Sans Bold"/>
                <a:sym typeface="Open Sans Bold"/>
              </a:rPr>
              <a:t>Preprocessing</a:t>
            </a:r>
          </a:p>
        </p:txBody>
      </p:sp>
      <p:sp>
        <p:nvSpPr>
          <p:cNvPr name="TextBox 59" id="59"/>
          <p:cNvSpPr txBox="true"/>
          <p:nvPr/>
        </p:nvSpPr>
        <p:spPr>
          <a:xfrm rot="0">
            <a:off x="1432349" y="7714690"/>
            <a:ext cx="2145834" cy="728365"/>
          </a:xfrm>
          <a:prstGeom prst="rect">
            <a:avLst/>
          </a:prstGeom>
        </p:spPr>
        <p:txBody>
          <a:bodyPr anchor="t" rtlCol="false" tIns="0" lIns="0" bIns="0" rIns="0">
            <a:spAutoFit/>
          </a:bodyPr>
          <a:lstStyle/>
          <a:p>
            <a:pPr algn="ctr" marL="0" indent="0" lvl="0">
              <a:lnSpc>
                <a:spcPts val="5167"/>
              </a:lnSpc>
            </a:pPr>
            <a:r>
              <a:rPr lang="en-US" b="true" sz="5273">
                <a:solidFill>
                  <a:srgbClr val="FFFFFF"/>
                </a:solidFill>
                <a:latin typeface="Poppins Semi-Bold"/>
                <a:ea typeface="Poppins Semi-Bold"/>
                <a:cs typeface="Poppins Semi-Bold"/>
                <a:sym typeface="Poppins Semi-Bold"/>
              </a:rPr>
              <a:t>Step 1</a:t>
            </a:r>
          </a:p>
        </p:txBody>
      </p:sp>
      <p:sp>
        <p:nvSpPr>
          <p:cNvPr name="TextBox 60" id="60"/>
          <p:cNvSpPr txBox="true"/>
          <p:nvPr/>
        </p:nvSpPr>
        <p:spPr>
          <a:xfrm rot="0">
            <a:off x="4769621" y="7714690"/>
            <a:ext cx="2145834" cy="728365"/>
          </a:xfrm>
          <a:prstGeom prst="rect">
            <a:avLst/>
          </a:prstGeom>
        </p:spPr>
        <p:txBody>
          <a:bodyPr anchor="t" rtlCol="false" tIns="0" lIns="0" bIns="0" rIns="0">
            <a:spAutoFit/>
          </a:bodyPr>
          <a:lstStyle/>
          <a:p>
            <a:pPr algn="ctr" marL="0" indent="0" lvl="0">
              <a:lnSpc>
                <a:spcPts val="5167"/>
              </a:lnSpc>
            </a:pPr>
            <a:r>
              <a:rPr lang="en-US" b="true" sz="5273">
                <a:solidFill>
                  <a:srgbClr val="FFFFFF"/>
                </a:solidFill>
                <a:latin typeface="Poppins Semi-Bold"/>
                <a:ea typeface="Poppins Semi-Bold"/>
                <a:cs typeface="Poppins Semi-Bold"/>
                <a:sym typeface="Poppins Semi-Bold"/>
              </a:rPr>
              <a:t>Step 2</a:t>
            </a:r>
          </a:p>
        </p:txBody>
      </p:sp>
      <p:sp>
        <p:nvSpPr>
          <p:cNvPr name="TextBox 61" id="61"/>
          <p:cNvSpPr txBox="true"/>
          <p:nvPr/>
        </p:nvSpPr>
        <p:spPr>
          <a:xfrm rot="0">
            <a:off x="8067687" y="7714690"/>
            <a:ext cx="2145834" cy="728365"/>
          </a:xfrm>
          <a:prstGeom prst="rect">
            <a:avLst/>
          </a:prstGeom>
        </p:spPr>
        <p:txBody>
          <a:bodyPr anchor="t" rtlCol="false" tIns="0" lIns="0" bIns="0" rIns="0">
            <a:spAutoFit/>
          </a:bodyPr>
          <a:lstStyle/>
          <a:p>
            <a:pPr algn="ctr" marL="0" indent="0" lvl="0">
              <a:lnSpc>
                <a:spcPts val="5167"/>
              </a:lnSpc>
            </a:pPr>
            <a:r>
              <a:rPr lang="en-US" b="true" sz="5273">
                <a:solidFill>
                  <a:srgbClr val="FFFFFF"/>
                </a:solidFill>
                <a:latin typeface="Poppins Semi-Bold"/>
                <a:ea typeface="Poppins Semi-Bold"/>
                <a:cs typeface="Poppins Semi-Bold"/>
                <a:sym typeface="Poppins Semi-Bold"/>
              </a:rPr>
              <a:t>Step 3</a:t>
            </a:r>
          </a:p>
        </p:txBody>
      </p:sp>
      <p:sp>
        <p:nvSpPr>
          <p:cNvPr name="TextBox 62" id="62"/>
          <p:cNvSpPr txBox="true"/>
          <p:nvPr/>
        </p:nvSpPr>
        <p:spPr>
          <a:xfrm rot="0">
            <a:off x="11407783" y="7714690"/>
            <a:ext cx="2145834" cy="728365"/>
          </a:xfrm>
          <a:prstGeom prst="rect">
            <a:avLst/>
          </a:prstGeom>
        </p:spPr>
        <p:txBody>
          <a:bodyPr anchor="t" rtlCol="false" tIns="0" lIns="0" bIns="0" rIns="0">
            <a:spAutoFit/>
          </a:bodyPr>
          <a:lstStyle/>
          <a:p>
            <a:pPr algn="ctr" marL="0" indent="0" lvl="0">
              <a:lnSpc>
                <a:spcPts val="5167"/>
              </a:lnSpc>
            </a:pPr>
            <a:r>
              <a:rPr lang="en-US" b="true" sz="5273">
                <a:solidFill>
                  <a:srgbClr val="FFFFFF"/>
                </a:solidFill>
                <a:latin typeface="Poppins Semi-Bold"/>
                <a:ea typeface="Poppins Semi-Bold"/>
                <a:cs typeface="Poppins Semi-Bold"/>
                <a:sym typeface="Poppins Semi-Bold"/>
              </a:rPr>
              <a:t>Step 4</a:t>
            </a:r>
          </a:p>
        </p:txBody>
      </p:sp>
      <p:sp>
        <p:nvSpPr>
          <p:cNvPr name="TextBox 63" id="63"/>
          <p:cNvSpPr txBox="true"/>
          <p:nvPr/>
        </p:nvSpPr>
        <p:spPr>
          <a:xfrm rot="0">
            <a:off x="14706623" y="7714690"/>
            <a:ext cx="2145834" cy="728365"/>
          </a:xfrm>
          <a:prstGeom prst="rect">
            <a:avLst/>
          </a:prstGeom>
        </p:spPr>
        <p:txBody>
          <a:bodyPr anchor="t" rtlCol="false" tIns="0" lIns="0" bIns="0" rIns="0">
            <a:spAutoFit/>
          </a:bodyPr>
          <a:lstStyle/>
          <a:p>
            <a:pPr algn="ctr" marL="0" indent="0" lvl="0">
              <a:lnSpc>
                <a:spcPts val="5167"/>
              </a:lnSpc>
            </a:pPr>
            <a:r>
              <a:rPr lang="en-US" b="true" sz="5273">
                <a:solidFill>
                  <a:srgbClr val="FFFFFF"/>
                </a:solidFill>
                <a:latin typeface="Poppins Semi-Bold"/>
                <a:ea typeface="Poppins Semi-Bold"/>
                <a:cs typeface="Poppins Semi-Bold"/>
                <a:sym typeface="Poppins Semi-Bold"/>
              </a:rPr>
              <a:t>Step 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871913" y="745271"/>
            <a:ext cx="1076667" cy="1035741"/>
          </a:xfrm>
          <a:custGeom>
            <a:avLst/>
            <a:gdLst/>
            <a:ahLst/>
            <a:cxnLst/>
            <a:rect r="r" b="b" t="t" l="l"/>
            <a:pathLst>
              <a:path h="1035741" w="1076667">
                <a:moveTo>
                  <a:pt x="0" y="0"/>
                </a:moveTo>
                <a:lnTo>
                  <a:pt x="1076667" y="0"/>
                </a:lnTo>
                <a:lnTo>
                  <a:pt x="1076667" y="1035741"/>
                </a:lnTo>
                <a:lnTo>
                  <a:pt x="0" y="1035741"/>
                </a:lnTo>
                <a:lnTo>
                  <a:pt x="0" y="0"/>
                </a:lnTo>
                <a:close/>
              </a:path>
            </a:pathLst>
          </a:custGeom>
          <a:blipFill>
            <a:blip r:embed="rId2"/>
            <a:stretch>
              <a:fillRect l="0" t="0" r="0" b="0"/>
            </a:stretch>
          </a:blipFill>
        </p:spPr>
      </p:sp>
      <p:grpSp>
        <p:nvGrpSpPr>
          <p:cNvPr name="Group 6" id="6"/>
          <p:cNvGrpSpPr/>
          <p:nvPr/>
        </p:nvGrpSpPr>
        <p:grpSpPr>
          <a:xfrm rot="0">
            <a:off x="7201727" y="1128021"/>
            <a:ext cx="10471980" cy="4978002"/>
            <a:chOff x="0" y="0"/>
            <a:chExt cx="1187174" cy="564340"/>
          </a:xfrm>
        </p:grpSpPr>
        <p:sp>
          <p:nvSpPr>
            <p:cNvPr name="Freeform 7" id="7"/>
            <p:cNvSpPr/>
            <p:nvPr/>
          </p:nvSpPr>
          <p:spPr>
            <a:xfrm flipH="false" flipV="false" rot="0">
              <a:off x="0" y="0"/>
              <a:ext cx="1187174" cy="564340"/>
            </a:xfrm>
            <a:custGeom>
              <a:avLst/>
              <a:gdLst/>
              <a:ahLst/>
              <a:cxnLst/>
              <a:rect r="r" b="b" t="t" l="l"/>
              <a:pathLst>
                <a:path h="564340" w="1187174">
                  <a:moveTo>
                    <a:pt x="10350" y="0"/>
                  </a:moveTo>
                  <a:lnTo>
                    <a:pt x="1176824" y="0"/>
                  </a:lnTo>
                  <a:cubicBezTo>
                    <a:pt x="1182540" y="0"/>
                    <a:pt x="1187174" y="4634"/>
                    <a:pt x="1187174" y="10350"/>
                  </a:cubicBezTo>
                  <a:lnTo>
                    <a:pt x="1187174" y="553990"/>
                  </a:lnTo>
                  <a:cubicBezTo>
                    <a:pt x="1187174" y="559706"/>
                    <a:pt x="1182540" y="564340"/>
                    <a:pt x="1176824" y="564340"/>
                  </a:cubicBezTo>
                  <a:lnTo>
                    <a:pt x="10350" y="564340"/>
                  </a:lnTo>
                  <a:cubicBezTo>
                    <a:pt x="7605" y="564340"/>
                    <a:pt x="4973" y="563249"/>
                    <a:pt x="3031" y="561308"/>
                  </a:cubicBezTo>
                  <a:cubicBezTo>
                    <a:pt x="1090" y="559367"/>
                    <a:pt x="0" y="556735"/>
                    <a:pt x="0" y="553990"/>
                  </a:cubicBezTo>
                  <a:lnTo>
                    <a:pt x="0" y="10350"/>
                  </a:lnTo>
                  <a:cubicBezTo>
                    <a:pt x="0" y="4634"/>
                    <a:pt x="4634" y="0"/>
                    <a:pt x="10350" y="0"/>
                  </a:cubicBezTo>
                  <a:close/>
                </a:path>
              </a:pathLst>
            </a:custGeom>
            <a:blipFill>
              <a:blip r:embed="rId3"/>
              <a:stretch>
                <a:fillRect l="0" t="-93" r="0" b="-93"/>
              </a:stretch>
            </a:blipFill>
          </p:spPr>
        </p:sp>
      </p:grpSp>
      <p:sp>
        <p:nvSpPr>
          <p:cNvPr name="TextBox 8" id="8"/>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9" id="9"/>
          <p:cNvSpPr txBox="true"/>
          <p:nvPr/>
        </p:nvSpPr>
        <p:spPr>
          <a:xfrm rot="0">
            <a:off x="1028700" y="2324088"/>
            <a:ext cx="5515802" cy="21188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Dataset Preview</a:t>
            </a:r>
          </a:p>
        </p:txBody>
      </p:sp>
      <p:sp>
        <p:nvSpPr>
          <p:cNvPr name="TextBox 10" id="10"/>
          <p:cNvSpPr txBox="true"/>
          <p:nvPr/>
        </p:nvSpPr>
        <p:spPr>
          <a:xfrm rot="0">
            <a:off x="1028700" y="6655023"/>
            <a:ext cx="7662838" cy="2454583"/>
          </a:xfrm>
          <a:prstGeom prst="rect">
            <a:avLst/>
          </a:prstGeom>
        </p:spPr>
        <p:txBody>
          <a:bodyPr anchor="t" rtlCol="false" tIns="0" lIns="0" bIns="0" rIns="0">
            <a:spAutoFit/>
          </a:bodyPr>
          <a:lstStyle/>
          <a:p>
            <a:pPr algn="l" marL="0" indent="0" lvl="0">
              <a:lnSpc>
                <a:spcPts val="2783"/>
              </a:lnSpc>
            </a:pPr>
            <a:r>
              <a:rPr lang="en-US" sz="1987">
                <a:solidFill>
                  <a:srgbClr val="1E293B"/>
                </a:solidFill>
                <a:latin typeface="Open Sans"/>
                <a:ea typeface="Open Sans"/>
                <a:cs typeface="Open Sans"/>
                <a:sym typeface="Open Sans"/>
              </a:rPr>
              <a:t>Key Dataset Observations:</a:t>
            </a:r>
          </a:p>
          <a:p>
            <a:pPr algn="l" marL="0" indent="0" lvl="0">
              <a:lnSpc>
                <a:spcPts val="2783"/>
              </a:lnSpc>
            </a:pPr>
            <a:r>
              <a:rPr lang="en-US" sz="1987">
                <a:solidFill>
                  <a:srgbClr val="1E293B"/>
                </a:solidFill>
                <a:latin typeface="Open Sans"/>
                <a:ea typeface="Open Sans"/>
                <a:cs typeface="Open Sans"/>
                <a:sym typeface="Open Sans"/>
              </a:rPr>
              <a:t>• Diverse handset types and manufacturers present across 150,000 user records</a:t>
            </a:r>
          </a:p>
          <a:p>
            <a:pPr algn="l" marL="0" indent="0" lvl="0">
              <a:lnSpc>
                <a:spcPts val="2783"/>
              </a:lnSpc>
            </a:pPr>
            <a:r>
              <a:rPr lang="en-US" sz="1987">
                <a:solidFill>
                  <a:srgbClr val="1E293B"/>
                </a:solidFill>
                <a:latin typeface="Open Sans"/>
                <a:ea typeface="Open Sans"/>
                <a:cs typeface="Open Sans"/>
                <a:sym typeface="Open Sans"/>
              </a:rPr>
              <a:t>• Wide range of session durations and data usage patterns observed</a:t>
            </a:r>
          </a:p>
          <a:p>
            <a:pPr algn="l" marL="0" indent="0" lvl="0">
              <a:lnSpc>
                <a:spcPts val="2783"/>
              </a:lnSpc>
            </a:pPr>
            <a:r>
              <a:rPr lang="en-US" sz="1987">
                <a:solidFill>
                  <a:srgbClr val="1E293B"/>
                </a:solidFill>
                <a:latin typeface="Open Sans"/>
                <a:ea typeface="Open Sans"/>
                <a:cs typeface="Open Sans"/>
                <a:sym typeface="Open Sans"/>
              </a:rPr>
              <a:t>• Initial data quality appears robust with only minor missing values identified</a:t>
            </a:r>
          </a:p>
        </p:txBody>
      </p:sp>
      <p:sp>
        <p:nvSpPr>
          <p:cNvPr name="TextBox 11" id="11"/>
          <p:cNvSpPr txBox="true"/>
          <p:nvPr/>
        </p:nvSpPr>
        <p:spPr>
          <a:xfrm rot="0">
            <a:off x="9596462" y="6655023"/>
            <a:ext cx="7662838" cy="2454583"/>
          </a:xfrm>
          <a:prstGeom prst="rect">
            <a:avLst/>
          </a:prstGeom>
        </p:spPr>
        <p:txBody>
          <a:bodyPr anchor="t" rtlCol="false" tIns="0" lIns="0" bIns="0" rIns="0">
            <a:spAutoFit/>
          </a:bodyPr>
          <a:lstStyle/>
          <a:p>
            <a:pPr algn="l" marL="0" indent="0" lvl="0">
              <a:lnSpc>
                <a:spcPts val="2783"/>
              </a:lnSpc>
            </a:pPr>
            <a:r>
              <a:rPr lang="en-US" sz="1987">
                <a:solidFill>
                  <a:srgbClr val="1E293B"/>
                </a:solidFill>
                <a:latin typeface="Open Sans"/>
                <a:ea typeface="Open Sans"/>
                <a:cs typeface="Open Sans"/>
                <a:sym typeface="Open Sans"/>
              </a:rPr>
              <a:t>Dataset Highlights:</a:t>
            </a:r>
          </a:p>
          <a:p>
            <a:pPr algn="l" marL="0" indent="0" lvl="0">
              <a:lnSpc>
                <a:spcPts val="2783"/>
              </a:lnSpc>
            </a:pPr>
            <a:r>
              <a:rPr lang="en-US" sz="1987">
                <a:solidFill>
                  <a:srgbClr val="1E293B"/>
                </a:solidFill>
                <a:latin typeface="Open Sans"/>
                <a:ea typeface="Open Sans"/>
                <a:cs typeface="Open Sans"/>
                <a:sym typeface="Open Sans"/>
              </a:rPr>
              <a:t>• 55 features captured per user record including network metrics</a:t>
            </a:r>
          </a:p>
          <a:p>
            <a:pPr algn="l" marL="0" indent="0" lvl="0">
              <a:lnSpc>
                <a:spcPts val="2783"/>
              </a:lnSpc>
            </a:pPr>
            <a:r>
              <a:rPr lang="en-US" sz="1987">
                <a:solidFill>
                  <a:srgbClr val="1E293B"/>
                </a:solidFill>
                <a:latin typeface="Open Sans"/>
                <a:ea typeface="Open Sans"/>
                <a:cs typeface="Open Sans"/>
                <a:sym typeface="Open Sans"/>
              </a:rPr>
              <a:t>• Handset diversity reflects real-world telecom market distribution</a:t>
            </a:r>
          </a:p>
          <a:p>
            <a:pPr algn="l" marL="0" indent="0" lvl="0">
              <a:lnSpc>
                <a:spcPts val="2783"/>
              </a:lnSpc>
            </a:pPr>
            <a:r>
              <a:rPr lang="en-US" sz="1987">
                <a:solidFill>
                  <a:srgbClr val="1E293B"/>
                </a:solidFill>
                <a:latin typeface="Open Sans"/>
                <a:ea typeface="Open Sans"/>
                <a:cs typeface="Open Sans"/>
                <a:sym typeface="Open Sans"/>
              </a:rPr>
              <a:t>• Session and throughput data enables rich engagement analysis</a:t>
            </a:r>
          </a:p>
          <a:p>
            <a:pPr algn="l" marL="0" indent="0" lvl="0">
              <a:lnSpc>
                <a:spcPts val="2783"/>
              </a:lnSpc>
            </a:pPr>
            <a:r>
              <a:rPr lang="en-US" sz="1987">
                <a:solidFill>
                  <a:srgbClr val="1E293B"/>
                </a:solidFill>
                <a:latin typeface="Open Sans"/>
                <a:ea typeface="Open Sans"/>
                <a:cs typeface="Open Sans"/>
                <a:sym typeface="Open Sans"/>
              </a:rPr>
              <a:t>• Minor null values in TCP retransmission and RTT fields — addressed in cleaning phase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2152796"/>
            <a:ext cx="7677988" cy="8789903"/>
            <a:chOff x="0" y="0"/>
            <a:chExt cx="1189521" cy="1361786"/>
          </a:xfrm>
        </p:grpSpPr>
        <p:sp>
          <p:nvSpPr>
            <p:cNvPr name="Freeform 7" id="7"/>
            <p:cNvSpPr/>
            <p:nvPr/>
          </p:nvSpPr>
          <p:spPr>
            <a:xfrm flipH="false" flipV="false" rot="0">
              <a:off x="0" y="0"/>
              <a:ext cx="1189521" cy="1361786"/>
            </a:xfrm>
            <a:custGeom>
              <a:avLst/>
              <a:gdLst/>
              <a:ahLst/>
              <a:cxnLst/>
              <a:rect r="r" b="b" t="t" l="l"/>
              <a:pathLst>
                <a:path h="1361786" w="1189521">
                  <a:moveTo>
                    <a:pt x="14117" y="0"/>
                  </a:moveTo>
                  <a:lnTo>
                    <a:pt x="1175405" y="0"/>
                  </a:lnTo>
                  <a:cubicBezTo>
                    <a:pt x="1179149" y="0"/>
                    <a:pt x="1182739" y="1487"/>
                    <a:pt x="1185387" y="4135"/>
                  </a:cubicBezTo>
                  <a:cubicBezTo>
                    <a:pt x="1188034" y="6782"/>
                    <a:pt x="1189521" y="10373"/>
                    <a:pt x="1189521" y="14117"/>
                  </a:cubicBezTo>
                  <a:lnTo>
                    <a:pt x="1189521" y="1347669"/>
                  </a:lnTo>
                  <a:cubicBezTo>
                    <a:pt x="1189521" y="1351413"/>
                    <a:pt x="1188034" y="1355004"/>
                    <a:pt x="1185387" y="1357651"/>
                  </a:cubicBezTo>
                  <a:cubicBezTo>
                    <a:pt x="1182739" y="1360299"/>
                    <a:pt x="1179149" y="1361786"/>
                    <a:pt x="1175405" y="1361786"/>
                  </a:cubicBezTo>
                  <a:lnTo>
                    <a:pt x="14117" y="1361786"/>
                  </a:lnTo>
                  <a:cubicBezTo>
                    <a:pt x="6320" y="1361786"/>
                    <a:pt x="0" y="1355466"/>
                    <a:pt x="0" y="1347669"/>
                  </a:cubicBezTo>
                  <a:lnTo>
                    <a:pt x="0" y="14117"/>
                  </a:lnTo>
                  <a:cubicBezTo>
                    <a:pt x="0" y="10373"/>
                    <a:pt x="1487" y="6782"/>
                    <a:pt x="4135" y="4135"/>
                  </a:cubicBezTo>
                  <a:cubicBezTo>
                    <a:pt x="6782" y="1487"/>
                    <a:pt x="10373" y="0"/>
                    <a:pt x="14117" y="0"/>
                  </a:cubicBezTo>
                  <a:close/>
                </a:path>
              </a:pathLst>
            </a:custGeom>
            <a:blipFill>
              <a:blip r:embed="rId4"/>
              <a:stretch>
                <a:fillRect l="0" t="-3911" r="0" b="-3911"/>
              </a:stretch>
            </a:blipFill>
          </p:spPr>
        </p:sp>
      </p:grpSp>
      <p:sp>
        <p:nvSpPr>
          <p:cNvPr name="TextBox 8" id="8"/>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Savvy Finance</a:t>
            </a:r>
          </a:p>
        </p:txBody>
      </p:sp>
      <p:sp>
        <p:nvSpPr>
          <p:cNvPr name="TextBox 9" id="9"/>
          <p:cNvSpPr txBox="true"/>
          <p:nvPr/>
        </p:nvSpPr>
        <p:spPr>
          <a:xfrm rot="0">
            <a:off x="9596462" y="1824556"/>
            <a:ext cx="6978472" cy="31094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Missing Values Analysis</a:t>
            </a:r>
          </a:p>
        </p:txBody>
      </p:sp>
      <p:sp>
        <p:nvSpPr>
          <p:cNvPr name="TextBox 10" id="10"/>
          <p:cNvSpPr txBox="true"/>
          <p:nvPr/>
        </p:nvSpPr>
        <p:spPr>
          <a:xfrm rot="0">
            <a:off x="9596462" y="6664548"/>
            <a:ext cx="7662838" cy="2572206"/>
          </a:xfrm>
          <a:prstGeom prst="rect">
            <a:avLst/>
          </a:prstGeom>
        </p:spPr>
        <p:txBody>
          <a:bodyPr anchor="t" rtlCol="false" tIns="0" lIns="0" bIns="0" rIns="0">
            <a:spAutoFit/>
          </a:bodyPr>
          <a:lstStyle/>
          <a:p>
            <a:pPr algn="l" marL="0" indent="0" lvl="0">
              <a:lnSpc>
                <a:spcPts val="2599"/>
              </a:lnSpc>
            </a:pPr>
            <a:r>
              <a:rPr lang="en-US" sz="1857">
                <a:solidFill>
                  <a:srgbClr val="1E293B"/>
                </a:solidFill>
                <a:latin typeface="Open Sans"/>
                <a:ea typeface="Open Sans"/>
                <a:cs typeface="Open Sans"/>
                <a:sym typeface="Open Sans"/>
              </a:rPr>
              <a:t>The dataset contained missing values across several key features. Missing data was identified in session duration, TCP retransmission, RTT, and throughput columns.</a:t>
            </a:r>
          </a:p>
          <a:p>
            <a:pPr algn="l" marL="0" indent="0" lvl="0">
              <a:lnSpc>
                <a:spcPts val="2599"/>
              </a:lnSpc>
            </a:pPr>
            <a:r>
              <a:rPr lang="en-US" sz="1857">
                <a:solidFill>
                  <a:srgbClr val="1E293B"/>
                </a:solidFill>
                <a:latin typeface="Open Sans"/>
                <a:ea typeface="Open Sans"/>
                <a:cs typeface="Open Sans"/>
                <a:sym typeface="Open Sans"/>
              </a:rPr>
              <a:t>• Impact: Missing values can skew statistical analysis and reduce model accuracy if not handled properly.</a:t>
            </a:r>
          </a:p>
          <a:p>
            <a:pPr algn="l" marL="0" indent="0" lvl="0">
              <a:lnSpc>
                <a:spcPts val="2599"/>
              </a:lnSpc>
            </a:pPr>
            <a:r>
              <a:rPr lang="en-US" sz="1857">
                <a:solidFill>
                  <a:srgbClr val="1E293B"/>
                </a:solidFill>
                <a:latin typeface="Open Sans"/>
                <a:ea typeface="Open Sans"/>
                <a:cs typeface="Open Sans"/>
                <a:sym typeface="Open Sans"/>
              </a:rPr>
              <a:t>• Strategy: Numerical columns were imputed using median values to minimize outlier influence. Rows with excessive missing entries were removed to ensure data integrity and analysis reliability.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367633" y="3868437"/>
            <a:ext cx="17132336" cy="5389863"/>
            <a:chOff x="0" y="0"/>
            <a:chExt cx="4328602" cy="1361786"/>
          </a:xfrm>
        </p:grpSpPr>
        <p:sp>
          <p:nvSpPr>
            <p:cNvPr name="Freeform 7" id="7"/>
            <p:cNvSpPr/>
            <p:nvPr/>
          </p:nvSpPr>
          <p:spPr>
            <a:xfrm flipH="false" flipV="false" rot="0">
              <a:off x="0" y="0"/>
              <a:ext cx="4328602" cy="1361786"/>
            </a:xfrm>
            <a:custGeom>
              <a:avLst/>
              <a:gdLst/>
              <a:ahLst/>
              <a:cxnLst/>
              <a:rect r="r" b="b" t="t" l="l"/>
              <a:pathLst>
                <a:path h="1361786" w="4328602">
                  <a:moveTo>
                    <a:pt x="6326" y="0"/>
                  </a:moveTo>
                  <a:lnTo>
                    <a:pt x="4322276" y="0"/>
                  </a:lnTo>
                  <a:cubicBezTo>
                    <a:pt x="4325770" y="0"/>
                    <a:pt x="4328602" y="2832"/>
                    <a:pt x="4328602" y="6326"/>
                  </a:cubicBezTo>
                  <a:lnTo>
                    <a:pt x="4328602" y="1355460"/>
                  </a:lnTo>
                  <a:cubicBezTo>
                    <a:pt x="4328602" y="1357137"/>
                    <a:pt x="4327935" y="1358747"/>
                    <a:pt x="4326749" y="1359933"/>
                  </a:cubicBezTo>
                  <a:cubicBezTo>
                    <a:pt x="4325563" y="1361119"/>
                    <a:pt x="4323954" y="1361786"/>
                    <a:pt x="4322276" y="1361786"/>
                  </a:cubicBezTo>
                  <a:lnTo>
                    <a:pt x="6326" y="1361786"/>
                  </a:lnTo>
                  <a:cubicBezTo>
                    <a:pt x="2832" y="1361786"/>
                    <a:pt x="0" y="1358953"/>
                    <a:pt x="0" y="1355460"/>
                  </a:cubicBezTo>
                  <a:lnTo>
                    <a:pt x="0" y="6326"/>
                  </a:lnTo>
                  <a:cubicBezTo>
                    <a:pt x="0" y="2832"/>
                    <a:pt x="2832" y="0"/>
                    <a:pt x="6326" y="0"/>
                  </a:cubicBezTo>
                  <a:close/>
                </a:path>
              </a:pathLst>
            </a:custGeom>
            <a:blipFill>
              <a:blip r:embed="rId4"/>
              <a:stretch>
                <a:fillRect l="0" t="-29956" r="-49618" b="-29956"/>
              </a:stretch>
            </a:blipFill>
          </p:spPr>
        </p:sp>
      </p:grpSp>
      <p:sp>
        <p:nvSpPr>
          <p:cNvPr name="TextBox 8" id="8"/>
          <p:cNvSpPr txBox="true"/>
          <p:nvPr/>
        </p:nvSpPr>
        <p:spPr>
          <a:xfrm rot="0">
            <a:off x="2311974" y="569901"/>
            <a:ext cx="6978472" cy="21188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Statistical Summary</a:t>
            </a:r>
          </a:p>
        </p:txBody>
      </p:sp>
      <p:sp>
        <p:nvSpPr>
          <p:cNvPr name="TextBox 9" id="9"/>
          <p:cNvSpPr txBox="true"/>
          <p:nvPr/>
        </p:nvSpPr>
        <p:spPr>
          <a:xfrm rot="0">
            <a:off x="9615188" y="643915"/>
            <a:ext cx="7662838" cy="2584276"/>
          </a:xfrm>
          <a:prstGeom prst="rect">
            <a:avLst/>
          </a:prstGeom>
        </p:spPr>
        <p:txBody>
          <a:bodyPr anchor="t" rtlCol="false" tIns="0" lIns="0" bIns="0" rIns="0">
            <a:spAutoFit/>
          </a:bodyPr>
          <a:lstStyle/>
          <a:p>
            <a:pPr algn="l" marL="0" indent="0" lvl="0">
              <a:lnSpc>
                <a:spcPts val="2984"/>
              </a:lnSpc>
            </a:pPr>
            <a:r>
              <a:rPr lang="en-US" sz="2131">
                <a:solidFill>
                  <a:srgbClr val="1E293B"/>
                </a:solidFill>
                <a:latin typeface="Open Sans"/>
                <a:ea typeface="Open Sans"/>
                <a:cs typeface="Open Sans"/>
                <a:sym typeface="Open Sans"/>
              </a:rPr>
              <a:t>Key statistical metrics reveal the distribution and variability of telecom user data across 150,000 records. Mean and median values highlight central tendencies in session duration and data usage, while max/min ranges expose outliers. Standard deviation indicates significant variability in download/upload behavior, reflecting diverse user engagement patterns across the dataset.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186240" y="3806025"/>
            <a:ext cx="12799354" cy="6399677"/>
          </a:xfrm>
          <a:custGeom>
            <a:avLst/>
            <a:gdLst/>
            <a:ahLst/>
            <a:cxnLst/>
            <a:rect r="r" b="b" t="t" l="l"/>
            <a:pathLst>
              <a:path h="6399677" w="12799354">
                <a:moveTo>
                  <a:pt x="0" y="0"/>
                </a:moveTo>
                <a:lnTo>
                  <a:pt x="12799354" y="0"/>
                </a:lnTo>
                <a:lnTo>
                  <a:pt x="12799354" y="6399677"/>
                </a:lnTo>
                <a:lnTo>
                  <a:pt x="0" y="6399677"/>
                </a:lnTo>
                <a:lnTo>
                  <a:pt x="0" y="0"/>
                </a:lnTo>
                <a:close/>
              </a:path>
            </a:pathLst>
          </a:custGeom>
          <a:blipFill>
            <a:blip r:embed="rId4"/>
            <a:stretch>
              <a:fillRect l="0" t="0" r="0" b="0"/>
            </a:stretch>
          </a:blipFill>
        </p:spPr>
      </p:sp>
      <p:sp>
        <p:nvSpPr>
          <p:cNvPr name="TextBox 7" id="7"/>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8" id="8"/>
          <p:cNvSpPr txBox="true"/>
          <p:nvPr/>
        </p:nvSpPr>
        <p:spPr>
          <a:xfrm rot="-5400000">
            <a:off x="-1190672" y="4484930"/>
            <a:ext cx="6978472" cy="21188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Top Handset Types</a:t>
            </a:r>
          </a:p>
        </p:txBody>
      </p:sp>
      <p:sp>
        <p:nvSpPr>
          <p:cNvPr name="TextBox 9" id="9"/>
          <p:cNvSpPr txBox="true"/>
          <p:nvPr/>
        </p:nvSpPr>
        <p:spPr>
          <a:xfrm rot="0">
            <a:off x="9610599" y="943535"/>
            <a:ext cx="7662838" cy="2584276"/>
          </a:xfrm>
          <a:prstGeom prst="rect">
            <a:avLst/>
          </a:prstGeom>
        </p:spPr>
        <p:txBody>
          <a:bodyPr anchor="t" rtlCol="false" tIns="0" lIns="0" bIns="0" rIns="0">
            <a:spAutoFit/>
          </a:bodyPr>
          <a:lstStyle/>
          <a:p>
            <a:pPr algn="l" marL="0" indent="0" lvl="0">
              <a:lnSpc>
                <a:spcPts val="2984"/>
              </a:lnSpc>
            </a:pPr>
            <a:r>
              <a:rPr lang="en-US" sz="2131">
                <a:solidFill>
                  <a:srgbClr val="1E293B"/>
                </a:solidFill>
                <a:latin typeface="Open Sans"/>
                <a:ea typeface="Open Sans"/>
                <a:cs typeface="Open Sans"/>
                <a:sym typeface="Open Sans"/>
              </a:rPr>
              <a:t>Analysis of the most popular handset models used across 150,000 telecom users reveals clear market leaders. Apple and Samsung dominate user preferences, with Huawei and other Android manufacturers also holding significant share. These insights help telecom providers tailor network optimization and targeted service offerings to match device-specific usage patterns and customer segments.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81303" y="3607671"/>
            <a:ext cx="11301259" cy="5650629"/>
          </a:xfrm>
          <a:custGeom>
            <a:avLst/>
            <a:gdLst/>
            <a:ahLst/>
            <a:cxnLst/>
            <a:rect r="r" b="b" t="t" l="l"/>
            <a:pathLst>
              <a:path h="5650629" w="11301259">
                <a:moveTo>
                  <a:pt x="0" y="0"/>
                </a:moveTo>
                <a:lnTo>
                  <a:pt x="11301259" y="0"/>
                </a:lnTo>
                <a:lnTo>
                  <a:pt x="11301259" y="5650629"/>
                </a:lnTo>
                <a:lnTo>
                  <a:pt x="0" y="5650629"/>
                </a:lnTo>
                <a:lnTo>
                  <a:pt x="0" y="0"/>
                </a:lnTo>
                <a:close/>
              </a:path>
            </a:pathLst>
          </a:custGeom>
          <a:blipFill>
            <a:blip r:embed="rId4"/>
            <a:stretch>
              <a:fillRect l="0" t="0" r="0" b="0"/>
            </a:stretch>
          </a:blipFill>
        </p:spPr>
      </p:sp>
      <p:sp>
        <p:nvSpPr>
          <p:cNvPr name="TextBox 7" id="7"/>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8" id="8"/>
          <p:cNvSpPr txBox="true"/>
          <p:nvPr/>
        </p:nvSpPr>
        <p:spPr>
          <a:xfrm rot="0">
            <a:off x="9596462" y="1824556"/>
            <a:ext cx="6978472" cy="1927289"/>
          </a:xfrm>
          <a:prstGeom prst="rect">
            <a:avLst/>
          </a:prstGeom>
        </p:spPr>
        <p:txBody>
          <a:bodyPr anchor="t" rtlCol="false" tIns="0" lIns="0" bIns="0" rIns="0">
            <a:spAutoFit/>
          </a:bodyPr>
          <a:lstStyle/>
          <a:p>
            <a:pPr algn="l" marL="0" indent="0" lvl="0">
              <a:lnSpc>
                <a:spcPts val="7129"/>
              </a:lnSpc>
            </a:pPr>
            <a:r>
              <a:rPr lang="en-US" b="true" sz="7275">
                <a:solidFill>
                  <a:srgbClr val="1E293B"/>
                </a:solidFill>
                <a:latin typeface="Poppins Semi-Bold"/>
                <a:ea typeface="Poppins Semi-Bold"/>
                <a:cs typeface="Poppins Semi-Bold"/>
                <a:sym typeface="Poppins Semi-Bold"/>
              </a:rPr>
              <a:t>Top Manufacturers</a:t>
            </a:r>
          </a:p>
        </p:txBody>
      </p:sp>
      <p:sp>
        <p:nvSpPr>
          <p:cNvPr name="TextBox 9" id="9"/>
          <p:cNvSpPr txBox="true"/>
          <p:nvPr/>
        </p:nvSpPr>
        <p:spPr>
          <a:xfrm rot="0">
            <a:off x="10027165" y="6168142"/>
            <a:ext cx="7662838" cy="2584276"/>
          </a:xfrm>
          <a:prstGeom prst="rect">
            <a:avLst/>
          </a:prstGeom>
        </p:spPr>
        <p:txBody>
          <a:bodyPr anchor="t" rtlCol="false" tIns="0" lIns="0" bIns="0" rIns="0">
            <a:spAutoFit/>
          </a:bodyPr>
          <a:lstStyle/>
          <a:p>
            <a:pPr algn="l" marL="0" indent="0" lvl="0">
              <a:lnSpc>
                <a:spcPts val="2984"/>
              </a:lnSpc>
            </a:pPr>
            <a:r>
              <a:rPr lang="en-US" sz="2131">
                <a:solidFill>
                  <a:srgbClr val="1E293B"/>
                </a:solidFill>
                <a:latin typeface="Open Sans"/>
                <a:ea typeface="Open Sans"/>
                <a:cs typeface="Open Sans"/>
                <a:sym typeface="Open Sans"/>
              </a:rPr>
              <a:t>Analysis of telecom device manufacturers reveals a highly concentrated market. A few dominant brands account for the majority of user devices, with the top manufacturers holding significant market share. Emerging players show gradual penetration, presenting opportunities for targeted partnerships and device-specific service optimization strategies.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2206969"/>
            <a:ext cx="10431099" cy="844649"/>
          </a:xfrm>
          <a:prstGeom prst="rect">
            <a:avLst/>
          </a:prstGeom>
        </p:spPr>
        <p:txBody>
          <a:bodyPr anchor="t" rtlCol="false" tIns="0" lIns="0" bIns="0" rIns="0">
            <a:spAutoFit/>
          </a:bodyPr>
          <a:lstStyle/>
          <a:p>
            <a:pPr algn="l" marL="0" indent="0" lvl="0">
              <a:lnSpc>
                <a:spcPts val="5905"/>
              </a:lnSpc>
            </a:pPr>
            <a:r>
              <a:rPr lang="en-US" b="true" sz="6026">
                <a:solidFill>
                  <a:srgbClr val="1E293B"/>
                </a:solidFill>
                <a:latin typeface="Poppins Semi-Bold"/>
                <a:ea typeface="Poppins Semi-Bold"/>
                <a:cs typeface="Poppins Semi-Bold"/>
                <a:sym typeface="Poppins Semi-Bold"/>
              </a:rPr>
              <a:t>User Engagement Analysis</a:t>
            </a:r>
          </a:p>
        </p:txBody>
      </p:sp>
      <p:grpSp>
        <p:nvGrpSpPr>
          <p:cNvPr name="Group 7" id="7"/>
          <p:cNvGrpSpPr/>
          <p:nvPr/>
        </p:nvGrpSpPr>
        <p:grpSpPr>
          <a:xfrm rot="0">
            <a:off x="6349619" y="3867444"/>
            <a:ext cx="10909681" cy="5390856"/>
            <a:chOff x="0" y="0"/>
            <a:chExt cx="2873332" cy="1419814"/>
          </a:xfrm>
        </p:grpSpPr>
        <p:sp>
          <p:nvSpPr>
            <p:cNvPr name="Freeform 8" id="8"/>
            <p:cNvSpPr/>
            <p:nvPr/>
          </p:nvSpPr>
          <p:spPr>
            <a:xfrm flipH="false" flipV="false" rot="0">
              <a:off x="0" y="0"/>
              <a:ext cx="2873332" cy="1419814"/>
            </a:xfrm>
            <a:custGeom>
              <a:avLst/>
              <a:gdLst/>
              <a:ahLst/>
              <a:cxnLst/>
              <a:rect r="r" b="b" t="t" l="l"/>
              <a:pathLst>
                <a:path h="1419814" w="2873332">
                  <a:moveTo>
                    <a:pt x="10645" y="0"/>
                  </a:moveTo>
                  <a:lnTo>
                    <a:pt x="2862687" y="0"/>
                  </a:lnTo>
                  <a:cubicBezTo>
                    <a:pt x="2868566" y="0"/>
                    <a:pt x="2873332" y="4766"/>
                    <a:pt x="2873332" y="10645"/>
                  </a:cubicBezTo>
                  <a:lnTo>
                    <a:pt x="2873332" y="1409169"/>
                  </a:lnTo>
                  <a:cubicBezTo>
                    <a:pt x="2873332" y="1411993"/>
                    <a:pt x="2872210" y="1414700"/>
                    <a:pt x="2870214" y="1416696"/>
                  </a:cubicBezTo>
                  <a:cubicBezTo>
                    <a:pt x="2868218" y="1418693"/>
                    <a:pt x="2865510" y="1419814"/>
                    <a:pt x="2862687" y="1419814"/>
                  </a:cubicBezTo>
                  <a:lnTo>
                    <a:pt x="10645" y="1419814"/>
                  </a:lnTo>
                  <a:cubicBezTo>
                    <a:pt x="4766" y="1419814"/>
                    <a:pt x="0" y="1415048"/>
                    <a:pt x="0" y="1409169"/>
                  </a:cubicBezTo>
                  <a:lnTo>
                    <a:pt x="0" y="10645"/>
                  </a:lnTo>
                  <a:cubicBezTo>
                    <a:pt x="0" y="7821"/>
                    <a:pt x="1121" y="5114"/>
                    <a:pt x="3118" y="3118"/>
                  </a:cubicBezTo>
                  <a:cubicBezTo>
                    <a:pt x="5114" y="1121"/>
                    <a:pt x="7821" y="0"/>
                    <a:pt x="10645" y="0"/>
                  </a:cubicBezTo>
                  <a:close/>
                </a:path>
              </a:pathLst>
            </a:custGeom>
            <a:gradFill rotWithShape="true">
              <a:gsLst>
                <a:gs pos="0">
                  <a:srgbClr val="BFD9F9">
                    <a:alpha val="100000"/>
                  </a:srgbClr>
                </a:gs>
                <a:gs pos="100000">
                  <a:srgbClr val="F4F9FD">
                    <a:alpha val="100000"/>
                  </a:srgbClr>
                </a:gs>
              </a:gsLst>
              <a:lin ang="5400000"/>
            </a:gradFill>
          </p:spPr>
        </p:sp>
        <p:sp>
          <p:nvSpPr>
            <p:cNvPr name="TextBox 9" id="9"/>
            <p:cNvSpPr txBox="true"/>
            <p:nvPr/>
          </p:nvSpPr>
          <p:spPr>
            <a:xfrm>
              <a:off x="0" y="-47625"/>
              <a:ext cx="2873332" cy="1467439"/>
            </a:xfrm>
            <a:prstGeom prst="rect">
              <a:avLst/>
            </a:prstGeom>
          </p:spPr>
          <p:txBody>
            <a:bodyPr anchor="ctr" rtlCol="false" tIns="50800" lIns="50800" bIns="50800" rIns="50800"/>
            <a:lstStyle/>
            <a:p>
              <a:pPr algn="ctr" marL="0" indent="0" lvl="0">
                <a:lnSpc>
                  <a:spcPts val="3499"/>
                </a:lnSpc>
              </a:pPr>
            </a:p>
          </p:txBody>
        </p:sp>
      </p:grpSp>
      <p:grpSp>
        <p:nvGrpSpPr>
          <p:cNvPr name="Group 10" id="10"/>
          <p:cNvGrpSpPr/>
          <p:nvPr/>
        </p:nvGrpSpPr>
        <p:grpSpPr>
          <a:xfrm rot="0">
            <a:off x="6952208" y="4327522"/>
            <a:ext cx="9595167" cy="815978"/>
            <a:chOff x="0" y="0"/>
            <a:chExt cx="2527122" cy="214908"/>
          </a:xfrm>
        </p:grpSpPr>
        <p:sp>
          <p:nvSpPr>
            <p:cNvPr name="Freeform 11" id="11"/>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2" id="12"/>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13" id="13"/>
          <p:cNvGrpSpPr/>
          <p:nvPr/>
        </p:nvGrpSpPr>
        <p:grpSpPr>
          <a:xfrm rot="0">
            <a:off x="6952208" y="5510548"/>
            <a:ext cx="9595167" cy="815978"/>
            <a:chOff x="0" y="0"/>
            <a:chExt cx="2527122" cy="214908"/>
          </a:xfrm>
        </p:grpSpPr>
        <p:sp>
          <p:nvSpPr>
            <p:cNvPr name="Freeform 14" id="14"/>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5" id="15"/>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16" id="16"/>
          <p:cNvGrpSpPr/>
          <p:nvPr/>
        </p:nvGrpSpPr>
        <p:grpSpPr>
          <a:xfrm rot="0">
            <a:off x="6952208" y="6698001"/>
            <a:ext cx="9595167" cy="815978"/>
            <a:chOff x="0" y="0"/>
            <a:chExt cx="2527122" cy="214908"/>
          </a:xfrm>
        </p:grpSpPr>
        <p:sp>
          <p:nvSpPr>
            <p:cNvPr name="Freeform 17" id="17"/>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8" id="18"/>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19" id="19"/>
          <p:cNvGrpSpPr/>
          <p:nvPr/>
        </p:nvGrpSpPr>
        <p:grpSpPr>
          <a:xfrm rot="0">
            <a:off x="6952208" y="7885454"/>
            <a:ext cx="9595167" cy="815978"/>
            <a:chOff x="0" y="0"/>
            <a:chExt cx="2527122" cy="214908"/>
          </a:xfrm>
        </p:grpSpPr>
        <p:sp>
          <p:nvSpPr>
            <p:cNvPr name="Freeform 20" id="20"/>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21" id="21"/>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22" id="22"/>
          <p:cNvGrpSpPr/>
          <p:nvPr/>
        </p:nvGrpSpPr>
        <p:grpSpPr>
          <a:xfrm rot="0">
            <a:off x="591556" y="3844663"/>
            <a:ext cx="4652079" cy="6883263"/>
            <a:chOff x="0" y="0"/>
            <a:chExt cx="720729" cy="1066398"/>
          </a:xfrm>
        </p:grpSpPr>
        <p:sp>
          <p:nvSpPr>
            <p:cNvPr name="Freeform 23" id="23"/>
            <p:cNvSpPr/>
            <p:nvPr/>
          </p:nvSpPr>
          <p:spPr>
            <a:xfrm flipH="false" flipV="false" rot="0">
              <a:off x="0" y="0"/>
              <a:ext cx="720729" cy="1066398"/>
            </a:xfrm>
            <a:custGeom>
              <a:avLst/>
              <a:gdLst/>
              <a:ahLst/>
              <a:cxnLst/>
              <a:rect r="r" b="b" t="t" l="l"/>
              <a:pathLst>
                <a:path h="1066398" w="720729">
                  <a:moveTo>
                    <a:pt x="23299" y="0"/>
                  </a:moveTo>
                  <a:lnTo>
                    <a:pt x="697430" y="0"/>
                  </a:lnTo>
                  <a:cubicBezTo>
                    <a:pt x="710298" y="0"/>
                    <a:pt x="720729" y="10431"/>
                    <a:pt x="720729" y="23299"/>
                  </a:cubicBezTo>
                  <a:lnTo>
                    <a:pt x="720729" y="1043099"/>
                  </a:lnTo>
                  <a:cubicBezTo>
                    <a:pt x="720729" y="1055966"/>
                    <a:pt x="710298" y="1066398"/>
                    <a:pt x="697430" y="1066398"/>
                  </a:cubicBezTo>
                  <a:lnTo>
                    <a:pt x="23299" y="1066398"/>
                  </a:lnTo>
                  <a:cubicBezTo>
                    <a:pt x="10431" y="1066398"/>
                    <a:pt x="0" y="1055966"/>
                    <a:pt x="0" y="1043099"/>
                  </a:cubicBezTo>
                  <a:lnTo>
                    <a:pt x="0" y="23299"/>
                  </a:lnTo>
                  <a:cubicBezTo>
                    <a:pt x="0" y="10431"/>
                    <a:pt x="10431" y="0"/>
                    <a:pt x="23299" y="0"/>
                  </a:cubicBezTo>
                  <a:close/>
                </a:path>
              </a:pathLst>
            </a:custGeom>
            <a:blipFill>
              <a:blip r:embed="rId4"/>
              <a:stretch>
                <a:fillRect l="-734" t="0" r="-195187" b="0"/>
              </a:stretch>
            </a:blipFill>
          </p:spPr>
        </p:sp>
      </p:grpSp>
      <p:grpSp>
        <p:nvGrpSpPr>
          <p:cNvPr name="Group 24" id="24"/>
          <p:cNvGrpSpPr/>
          <p:nvPr/>
        </p:nvGrpSpPr>
        <p:grpSpPr>
          <a:xfrm rot="0">
            <a:off x="11043819" y="-4496808"/>
            <a:ext cx="7244181" cy="724418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sp>
        <p:nvSpPr>
          <p:cNvPr name="TextBox 27" id="27"/>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28" id="28"/>
          <p:cNvSpPr txBox="true"/>
          <p:nvPr/>
        </p:nvSpPr>
        <p:spPr>
          <a:xfrm rot="0">
            <a:off x="7397039" y="4510105"/>
            <a:ext cx="8705506" cy="371485"/>
          </a:xfrm>
          <a:prstGeom prst="rect">
            <a:avLst/>
          </a:prstGeom>
        </p:spPr>
        <p:txBody>
          <a:bodyPr anchor="t" rtlCol="false" tIns="0" lIns="0" bIns="0" rIns="0">
            <a:spAutoFit/>
          </a:bodyPr>
          <a:lstStyle/>
          <a:p>
            <a:pPr algn="ctr" marL="0" indent="0" lvl="0">
              <a:lnSpc>
                <a:spcPts val="3149"/>
              </a:lnSpc>
            </a:pPr>
            <a:r>
              <a:rPr lang="en-US" sz="2249">
                <a:solidFill>
                  <a:srgbClr val="FFFFFF"/>
                </a:solidFill>
                <a:latin typeface="Open Sans"/>
                <a:ea typeface="Open Sans"/>
                <a:cs typeface="Open Sans"/>
                <a:sym typeface="Open Sans"/>
              </a:rPr>
              <a:t>Session duration histogram reveals average usage trends.</a:t>
            </a:r>
          </a:p>
        </p:txBody>
      </p:sp>
      <p:sp>
        <p:nvSpPr>
          <p:cNvPr name="TextBox 29" id="29"/>
          <p:cNvSpPr txBox="true"/>
          <p:nvPr/>
        </p:nvSpPr>
        <p:spPr>
          <a:xfrm rot="0">
            <a:off x="7397039" y="5695344"/>
            <a:ext cx="8705506" cy="371485"/>
          </a:xfrm>
          <a:prstGeom prst="rect">
            <a:avLst/>
          </a:prstGeom>
        </p:spPr>
        <p:txBody>
          <a:bodyPr anchor="t" rtlCol="false" tIns="0" lIns="0" bIns="0" rIns="0">
            <a:spAutoFit/>
          </a:bodyPr>
          <a:lstStyle/>
          <a:p>
            <a:pPr algn="ctr" marL="0" indent="0" lvl="0">
              <a:lnSpc>
                <a:spcPts val="3149"/>
              </a:lnSpc>
            </a:pPr>
            <a:r>
              <a:rPr lang="en-US" sz="2249">
                <a:solidFill>
                  <a:srgbClr val="FFFFFF"/>
                </a:solidFill>
                <a:latin typeface="Open Sans"/>
                <a:ea typeface="Open Sans"/>
                <a:cs typeface="Open Sans"/>
                <a:sym typeface="Open Sans"/>
              </a:rPr>
              <a:t>Download/upload scatter plot shows data consumption patterns.</a:t>
            </a:r>
          </a:p>
        </p:txBody>
      </p:sp>
      <p:sp>
        <p:nvSpPr>
          <p:cNvPr name="TextBox 30" id="30"/>
          <p:cNvSpPr txBox="true"/>
          <p:nvPr/>
        </p:nvSpPr>
        <p:spPr>
          <a:xfrm rot="0">
            <a:off x="7397039" y="6878976"/>
            <a:ext cx="8705506" cy="371485"/>
          </a:xfrm>
          <a:prstGeom prst="rect">
            <a:avLst/>
          </a:prstGeom>
        </p:spPr>
        <p:txBody>
          <a:bodyPr anchor="t" rtlCol="false" tIns="0" lIns="0" bIns="0" rIns="0">
            <a:spAutoFit/>
          </a:bodyPr>
          <a:lstStyle/>
          <a:p>
            <a:pPr algn="ctr" marL="0" indent="0" lvl="0">
              <a:lnSpc>
                <a:spcPts val="3149"/>
              </a:lnSpc>
            </a:pPr>
            <a:r>
              <a:rPr lang="en-US" sz="2249">
                <a:solidFill>
                  <a:srgbClr val="FFFFFF"/>
                </a:solidFill>
                <a:latin typeface="Open Sans"/>
                <a:ea typeface="Open Sans"/>
                <a:cs typeface="Open Sans"/>
                <a:sym typeface="Open Sans"/>
              </a:rPr>
              <a:t>Peak activity periods identified from engagement metrics.</a:t>
            </a:r>
          </a:p>
        </p:txBody>
      </p:sp>
      <p:sp>
        <p:nvSpPr>
          <p:cNvPr name="TextBox 31" id="31"/>
          <p:cNvSpPr txBox="true"/>
          <p:nvPr/>
        </p:nvSpPr>
        <p:spPr>
          <a:xfrm rot="0">
            <a:off x="7397039" y="8068037"/>
            <a:ext cx="8705506" cy="371485"/>
          </a:xfrm>
          <a:prstGeom prst="rect">
            <a:avLst/>
          </a:prstGeom>
        </p:spPr>
        <p:txBody>
          <a:bodyPr anchor="t" rtlCol="false" tIns="0" lIns="0" bIns="0" rIns="0">
            <a:spAutoFit/>
          </a:bodyPr>
          <a:lstStyle/>
          <a:p>
            <a:pPr algn="ctr" marL="0" indent="0" lvl="0">
              <a:lnSpc>
                <a:spcPts val="3149"/>
              </a:lnSpc>
            </a:pPr>
            <a:r>
              <a:rPr lang="en-US" sz="2249">
                <a:solidFill>
                  <a:srgbClr val="FFFFFF"/>
                </a:solidFill>
                <a:latin typeface="Open Sans"/>
                <a:ea typeface="Open Sans"/>
                <a:cs typeface="Open Sans"/>
                <a:sym typeface="Open Sans"/>
              </a:rPr>
              <a:t>High data users correlate with longer session durations.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2152796"/>
            <a:ext cx="7677988" cy="8789903"/>
            <a:chOff x="0" y="0"/>
            <a:chExt cx="1189521" cy="1361786"/>
          </a:xfrm>
        </p:grpSpPr>
        <p:sp>
          <p:nvSpPr>
            <p:cNvPr name="Freeform 7" id="7"/>
            <p:cNvSpPr/>
            <p:nvPr/>
          </p:nvSpPr>
          <p:spPr>
            <a:xfrm flipH="false" flipV="false" rot="0">
              <a:off x="0" y="0"/>
              <a:ext cx="1189521" cy="1361786"/>
            </a:xfrm>
            <a:custGeom>
              <a:avLst/>
              <a:gdLst/>
              <a:ahLst/>
              <a:cxnLst/>
              <a:rect r="r" b="b" t="t" l="l"/>
              <a:pathLst>
                <a:path h="1361786" w="1189521">
                  <a:moveTo>
                    <a:pt x="14117" y="0"/>
                  </a:moveTo>
                  <a:lnTo>
                    <a:pt x="1175405" y="0"/>
                  </a:lnTo>
                  <a:cubicBezTo>
                    <a:pt x="1179149" y="0"/>
                    <a:pt x="1182739" y="1487"/>
                    <a:pt x="1185387" y="4135"/>
                  </a:cubicBezTo>
                  <a:cubicBezTo>
                    <a:pt x="1188034" y="6782"/>
                    <a:pt x="1189521" y="10373"/>
                    <a:pt x="1189521" y="14117"/>
                  </a:cubicBezTo>
                  <a:lnTo>
                    <a:pt x="1189521" y="1347669"/>
                  </a:lnTo>
                  <a:cubicBezTo>
                    <a:pt x="1189521" y="1351413"/>
                    <a:pt x="1188034" y="1355004"/>
                    <a:pt x="1185387" y="1357651"/>
                  </a:cubicBezTo>
                  <a:cubicBezTo>
                    <a:pt x="1182739" y="1360299"/>
                    <a:pt x="1179149" y="1361786"/>
                    <a:pt x="1175405" y="1361786"/>
                  </a:cubicBezTo>
                  <a:lnTo>
                    <a:pt x="14117" y="1361786"/>
                  </a:lnTo>
                  <a:cubicBezTo>
                    <a:pt x="6320" y="1361786"/>
                    <a:pt x="0" y="1355466"/>
                    <a:pt x="0" y="1347669"/>
                  </a:cubicBezTo>
                  <a:lnTo>
                    <a:pt x="0" y="14117"/>
                  </a:lnTo>
                  <a:cubicBezTo>
                    <a:pt x="0" y="10373"/>
                    <a:pt x="1487" y="6782"/>
                    <a:pt x="4135" y="4135"/>
                  </a:cubicBezTo>
                  <a:cubicBezTo>
                    <a:pt x="6782" y="1487"/>
                    <a:pt x="10373" y="0"/>
                    <a:pt x="14117" y="0"/>
                  </a:cubicBezTo>
                  <a:close/>
                </a:path>
              </a:pathLst>
            </a:custGeom>
            <a:blipFill>
              <a:blip r:embed="rId4"/>
              <a:stretch>
                <a:fillRect l="-26321" t="0" r="-26321" b="0"/>
              </a:stretch>
            </a:blipFill>
          </p:spPr>
        </p:sp>
      </p:grpSp>
      <p:sp>
        <p:nvSpPr>
          <p:cNvPr name="TextBox 8" id="8"/>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9" id="9"/>
          <p:cNvSpPr txBox="true"/>
          <p:nvPr/>
        </p:nvSpPr>
        <p:spPr>
          <a:xfrm rot="0">
            <a:off x="9596462" y="1824556"/>
            <a:ext cx="6978472" cy="31094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User Experience Analysis</a:t>
            </a:r>
          </a:p>
        </p:txBody>
      </p:sp>
      <p:sp>
        <p:nvSpPr>
          <p:cNvPr name="TextBox 10" id="10"/>
          <p:cNvSpPr txBox="true"/>
          <p:nvPr/>
        </p:nvSpPr>
        <p:spPr>
          <a:xfrm rot="0">
            <a:off x="9596462" y="6664548"/>
            <a:ext cx="7662838" cy="2497004"/>
          </a:xfrm>
          <a:prstGeom prst="rect">
            <a:avLst/>
          </a:prstGeom>
        </p:spPr>
        <p:txBody>
          <a:bodyPr anchor="t" rtlCol="false" tIns="0" lIns="0" bIns="0" rIns="0">
            <a:spAutoFit/>
          </a:bodyPr>
          <a:lstStyle/>
          <a:p>
            <a:pPr algn="l" marL="0" indent="0" lvl="0">
              <a:lnSpc>
                <a:spcPts val="2544"/>
              </a:lnSpc>
            </a:pPr>
            <a:r>
              <a:rPr lang="en-US" sz="1817">
                <a:solidFill>
                  <a:srgbClr val="1E293B"/>
                </a:solidFill>
                <a:latin typeface="Open Sans"/>
                <a:ea typeface="Open Sans"/>
                <a:cs typeface="Open Sans"/>
                <a:sym typeface="Open Sans"/>
              </a:rPr>
              <a:t>The correlation heatmap reveals key relationships among network quality metrics. TCP retransmission rates show a strong negative correlation with throughput, indicating that packet loss directly degrades data speeds. RTT (Round Trip Time) correlates positively with retransmission, suggesting latency amplifies network congestion. High throughput is associated with lower RTT, confirming that faster networks deliver better responsiveness. These insights highlight critical areas for network optimization to enhance overall user experience.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23048" y="4173810"/>
            <a:ext cx="15836252" cy="5664590"/>
            <a:chOff x="0" y="0"/>
            <a:chExt cx="3807087" cy="1361786"/>
          </a:xfrm>
        </p:grpSpPr>
        <p:sp>
          <p:nvSpPr>
            <p:cNvPr name="Freeform 7" id="7"/>
            <p:cNvSpPr/>
            <p:nvPr/>
          </p:nvSpPr>
          <p:spPr>
            <a:xfrm flipH="false" flipV="false" rot="0">
              <a:off x="0" y="0"/>
              <a:ext cx="3807087" cy="1361786"/>
            </a:xfrm>
            <a:custGeom>
              <a:avLst/>
              <a:gdLst/>
              <a:ahLst/>
              <a:cxnLst/>
              <a:rect r="r" b="b" t="t" l="l"/>
              <a:pathLst>
                <a:path h="1361786" w="3807087">
                  <a:moveTo>
                    <a:pt x="6844" y="0"/>
                  </a:moveTo>
                  <a:lnTo>
                    <a:pt x="3800243" y="0"/>
                  </a:lnTo>
                  <a:cubicBezTo>
                    <a:pt x="3804023" y="0"/>
                    <a:pt x="3807087" y="3064"/>
                    <a:pt x="3807087" y="6844"/>
                  </a:cubicBezTo>
                  <a:lnTo>
                    <a:pt x="3807087" y="1354942"/>
                  </a:lnTo>
                  <a:cubicBezTo>
                    <a:pt x="3807087" y="1358722"/>
                    <a:pt x="3804023" y="1361786"/>
                    <a:pt x="3800243" y="1361786"/>
                  </a:cubicBezTo>
                  <a:lnTo>
                    <a:pt x="6844" y="1361786"/>
                  </a:lnTo>
                  <a:cubicBezTo>
                    <a:pt x="3064" y="1361786"/>
                    <a:pt x="0" y="1358722"/>
                    <a:pt x="0" y="1354942"/>
                  </a:cubicBezTo>
                  <a:lnTo>
                    <a:pt x="0" y="6844"/>
                  </a:lnTo>
                  <a:cubicBezTo>
                    <a:pt x="0" y="3064"/>
                    <a:pt x="3064" y="0"/>
                    <a:pt x="6844" y="0"/>
                  </a:cubicBezTo>
                  <a:close/>
                </a:path>
              </a:pathLst>
            </a:custGeom>
            <a:blipFill>
              <a:blip r:embed="rId4"/>
              <a:stretch>
                <a:fillRect l="0" t="-4821" r="0" b="-4821"/>
              </a:stretch>
            </a:blipFill>
          </p:spPr>
        </p:sp>
      </p:grpSp>
      <p:sp>
        <p:nvSpPr>
          <p:cNvPr name="TextBox 8" id="8"/>
          <p:cNvSpPr txBox="true"/>
          <p:nvPr/>
        </p:nvSpPr>
        <p:spPr>
          <a:xfrm rot="0">
            <a:off x="2165528" y="958498"/>
            <a:ext cx="5237338" cy="1587848"/>
          </a:xfrm>
          <a:prstGeom prst="rect">
            <a:avLst/>
          </a:prstGeom>
        </p:spPr>
        <p:txBody>
          <a:bodyPr anchor="t" rtlCol="false" tIns="0" lIns="0" bIns="0" rIns="0">
            <a:spAutoFit/>
          </a:bodyPr>
          <a:lstStyle/>
          <a:p>
            <a:pPr algn="l" marL="0" indent="0" lvl="0">
              <a:lnSpc>
                <a:spcPts val="5879"/>
              </a:lnSpc>
            </a:pPr>
            <a:r>
              <a:rPr lang="en-US" b="true" sz="5999">
                <a:solidFill>
                  <a:srgbClr val="1E293B"/>
                </a:solidFill>
                <a:latin typeface="Poppins Semi-Bold"/>
                <a:ea typeface="Poppins Semi-Bold"/>
                <a:cs typeface="Poppins Semi-Bold"/>
                <a:sym typeface="Poppins Semi-Bold"/>
              </a:rPr>
              <a:t>Top Active Users</a:t>
            </a:r>
          </a:p>
        </p:txBody>
      </p:sp>
      <p:sp>
        <p:nvSpPr>
          <p:cNvPr name="TextBox 9" id="9"/>
          <p:cNvSpPr txBox="true"/>
          <p:nvPr/>
        </p:nvSpPr>
        <p:spPr>
          <a:xfrm rot="0">
            <a:off x="7933451" y="553452"/>
            <a:ext cx="9589703" cy="3243577"/>
          </a:xfrm>
          <a:prstGeom prst="rect">
            <a:avLst/>
          </a:prstGeom>
        </p:spPr>
        <p:txBody>
          <a:bodyPr anchor="t" rtlCol="false" tIns="0" lIns="0" bIns="0" rIns="0">
            <a:spAutoFit/>
          </a:bodyPr>
          <a:lstStyle/>
          <a:p>
            <a:pPr algn="l" marL="0" indent="0" lvl="0">
              <a:lnSpc>
                <a:spcPts val="3735"/>
              </a:lnSpc>
            </a:pPr>
            <a:r>
              <a:rPr lang="en-US" sz="2667">
                <a:solidFill>
                  <a:srgbClr val="1E293B"/>
                </a:solidFill>
                <a:latin typeface="Open Sans"/>
                <a:ea typeface="Open Sans"/>
                <a:cs typeface="Open Sans"/>
                <a:sym typeface="Open Sans"/>
              </a:rPr>
              <a:t>The table highlights the most engaged telecom customers ranked by total activity duration. Top users demonstrate significantly higher session lengths and data consumption, indicating strong network dependency. These high-value customers represent prime targets for loyalty programs, premium service offerings, and personalized retention strategies to reduce churn risk.</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99446"/>
            <a:ext cx="3976232" cy="256084"/>
          </a:xfrm>
          <a:prstGeom prst="rect">
            <a:avLst/>
          </a:prstGeom>
        </p:spPr>
        <p:txBody>
          <a:bodyPr anchor="t" rtlCol="false" tIns="0" lIns="0" bIns="0" rIns="0">
            <a:spAutoFit/>
          </a:bodyPr>
          <a:lstStyle/>
          <a:p>
            <a:pPr algn="l" marL="0" indent="0" lvl="0">
              <a:lnSpc>
                <a:spcPts val="2160"/>
              </a:lnSpc>
            </a:pPr>
            <a:r>
              <a:rPr lang="en-US" b="true" sz="1542">
                <a:solidFill>
                  <a:srgbClr val="1E293B"/>
                </a:solidFill>
                <a:latin typeface="Open Sans Bold"/>
                <a:ea typeface="Open Sans Bold"/>
                <a:cs typeface="Open Sans Bold"/>
                <a:sym typeface="Open Sans Bold"/>
              </a:rPr>
              <a:t>Nexthikes IT Solutions</a:t>
            </a:r>
          </a:p>
        </p:txBody>
      </p:sp>
      <p:sp>
        <p:nvSpPr>
          <p:cNvPr name="TextBox 7" id="7"/>
          <p:cNvSpPr txBox="true"/>
          <p:nvPr/>
        </p:nvSpPr>
        <p:spPr>
          <a:xfrm rot="0">
            <a:off x="1028700" y="2216494"/>
            <a:ext cx="6978472" cy="858854"/>
          </a:xfrm>
          <a:prstGeom prst="rect">
            <a:avLst/>
          </a:prstGeom>
        </p:spPr>
        <p:txBody>
          <a:bodyPr anchor="t" rtlCol="false" tIns="0" lIns="0" bIns="0" rIns="0">
            <a:spAutoFit/>
          </a:bodyPr>
          <a:lstStyle/>
          <a:p>
            <a:pPr algn="l" marL="0" indent="0" lvl="0">
              <a:lnSpc>
                <a:spcPts val="6069"/>
              </a:lnSpc>
            </a:pPr>
            <a:r>
              <a:rPr lang="en-US" b="true" sz="6193">
                <a:solidFill>
                  <a:srgbClr val="1E293B"/>
                </a:solidFill>
                <a:latin typeface="Poppins Semi-Bold"/>
                <a:ea typeface="Poppins Semi-Bold"/>
                <a:cs typeface="Poppins Semi-Bold"/>
                <a:sym typeface="Poppins Semi-Bold"/>
              </a:rPr>
              <a:t>Business Insights</a:t>
            </a:r>
          </a:p>
        </p:txBody>
      </p:sp>
      <p:grpSp>
        <p:nvGrpSpPr>
          <p:cNvPr name="Group 8" id="8"/>
          <p:cNvGrpSpPr/>
          <p:nvPr/>
        </p:nvGrpSpPr>
        <p:grpSpPr>
          <a:xfrm rot="0">
            <a:off x="1028700" y="6706187"/>
            <a:ext cx="6978472" cy="2552113"/>
            <a:chOff x="0" y="0"/>
            <a:chExt cx="1837951" cy="672161"/>
          </a:xfrm>
        </p:grpSpPr>
        <p:sp>
          <p:nvSpPr>
            <p:cNvPr name="Freeform 9" id="9"/>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0" id="10"/>
            <p:cNvSpPr txBox="true"/>
            <p:nvPr/>
          </p:nvSpPr>
          <p:spPr>
            <a:xfrm>
              <a:off x="0" y="-47625"/>
              <a:ext cx="1837951" cy="719786"/>
            </a:xfrm>
            <a:prstGeom prst="rect">
              <a:avLst/>
            </a:prstGeom>
          </p:spPr>
          <p:txBody>
            <a:bodyPr anchor="ctr" rtlCol="false" tIns="50800" lIns="50800" bIns="50800" rIns="50800"/>
            <a:lstStyle/>
            <a:p>
              <a:pPr algn="ctr" marL="0" indent="0" lvl="0">
                <a:lnSpc>
                  <a:spcPts val="3499"/>
                </a:lnSpc>
              </a:pPr>
            </a:p>
          </p:txBody>
        </p:sp>
      </p:grpSp>
      <p:grpSp>
        <p:nvGrpSpPr>
          <p:cNvPr name="Group 11" id="11"/>
          <p:cNvGrpSpPr/>
          <p:nvPr/>
        </p:nvGrpSpPr>
        <p:grpSpPr>
          <a:xfrm rot="0">
            <a:off x="9144000" y="6706187"/>
            <a:ext cx="6978472" cy="2552113"/>
            <a:chOff x="0" y="0"/>
            <a:chExt cx="1837951" cy="672161"/>
          </a:xfrm>
        </p:grpSpPr>
        <p:sp>
          <p:nvSpPr>
            <p:cNvPr name="Freeform 12" id="12"/>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3" id="13"/>
            <p:cNvSpPr txBox="true"/>
            <p:nvPr/>
          </p:nvSpPr>
          <p:spPr>
            <a:xfrm>
              <a:off x="0" y="-47625"/>
              <a:ext cx="1837951" cy="719786"/>
            </a:xfrm>
            <a:prstGeom prst="rect">
              <a:avLst/>
            </a:prstGeom>
          </p:spPr>
          <p:txBody>
            <a:bodyPr anchor="ctr" rtlCol="false" tIns="50800" lIns="50800" bIns="50800" rIns="50800"/>
            <a:lstStyle/>
            <a:p>
              <a:pPr algn="ctr" marL="0" indent="0" lvl="0">
                <a:lnSpc>
                  <a:spcPts val="3499"/>
                </a:lnSpc>
              </a:pPr>
            </a:p>
          </p:txBody>
        </p:sp>
      </p:grpSp>
      <p:grpSp>
        <p:nvGrpSpPr>
          <p:cNvPr name="Group 14" id="14"/>
          <p:cNvGrpSpPr/>
          <p:nvPr/>
        </p:nvGrpSpPr>
        <p:grpSpPr>
          <a:xfrm rot="0">
            <a:off x="1028700" y="3867444"/>
            <a:ext cx="6978472" cy="2552113"/>
            <a:chOff x="0" y="0"/>
            <a:chExt cx="1837951" cy="672161"/>
          </a:xfrm>
        </p:grpSpPr>
        <p:sp>
          <p:nvSpPr>
            <p:cNvPr name="Freeform 15" id="15"/>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6" id="16"/>
            <p:cNvSpPr txBox="true"/>
            <p:nvPr/>
          </p:nvSpPr>
          <p:spPr>
            <a:xfrm>
              <a:off x="0" y="-47625"/>
              <a:ext cx="1837951" cy="719786"/>
            </a:xfrm>
            <a:prstGeom prst="rect">
              <a:avLst/>
            </a:prstGeom>
          </p:spPr>
          <p:txBody>
            <a:bodyPr anchor="ctr" rtlCol="false" tIns="50800" lIns="50800" bIns="50800" rIns="50800"/>
            <a:lstStyle/>
            <a:p>
              <a:pPr algn="ctr" marL="0" indent="0" lvl="0">
                <a:lnSpc>
                  <a:spcPts val="3499"/>
                </a:lnSpc>
              </a:pPr>
            </a:p>
          </p:txBody>
        </p:sp>
      </p:grpSp>
      <p:grpSp>
        <p:nvGrpSpPr>
          <p:cNvPr name="Group 17" id="17"/>
          <p:cNvGrpSpPr/>
          <p:nvPr/>
        </p:nvGrpSpPr>
        <p:grpSpPr>
          <a:xfrm rot="0">
            <a:off x="9144000" y="3867444"/>
            <a:ext cx="6978472" cy="2552113"/>
            <a:chOff x="0" y="0"/>
            <a:chExt cx="1837951" cy="672161"/>
          </a:xfrm>
        </p:grpSpPr>
        <p:sp>
          <p:nvSpPr>
            <p:cNvPr name="Freeform 18" id="18"/>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9" id="19"/>
            <p:cNvSpPr txBox="true"/>
            <p:nvPr/>
          </p:nvSpPr>
          <p:spPr>
            <a:xfrm>
              <a:off x="0" y="-47625"/>
              <a:ext cx="1837951" cy="719786"/>
            </a:xfrm>
            <a:prstGeom prst="rect">
              <a:avLst/>
            </a:prstGeom>
          </p:spPr>
          <p:txBody>
            <a:bodyPr anchor="ctr" rtlCol="false" tIns="50800" lIns="50800" bIns="50800" rIns="50800"/>
            <a:lstStyle/>
            <a:p>
              <a:pPr algn="ctr" marL="0" indent="0" lvl="0">
                <a:lnSpc>
                  <a:spcPts val="3499"/>
                </a:lnSpc>
              </a:pPr>
            </a:p>
          </p:txBody>
        </p:sp>
      </p:grpSp>
      <p:grpSp>
        <p:nvGrpSpPr>
          <p:cNvPr name="Group 20" id="20"/>
          <p:cNvGrpSpPr/>
          <p:nvPr/>
        </p:nvGrpSpPr>
        <p:grpSpPr>
          <a:xfrm rot="0">
            <a:off x="7725926" y="7756144"/>
            <a:ext cx="562492" cy="452200"/>
            <a:chOff x="0" y="0"/>
            <a:chExt cx="647700" cy="520700"/>
          </a:xfrm>
        </p:grpSpPr>
        <p:sp>
          <p:nvSpPr>
            <p:cNvPr name="Freeform 21" id="21"/>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22" id="22"/>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23" id="23"/>
          <p:cNvGrpSpPr/>
          <p:nvPr/>
        </p:nvGrpSpPr>
        <p:grpSpPr>
          <a:xfrm rot="0">
            <a:off x="15841226" y="7756144"/>
            <a:ext cx="562492" cy="452200"/>
            <a:chOff x="0" y="0"/>
            <a:chExt cx="647700" cy="520700"/>
          </a:xfrm>
        </p:grpSpPr>
        <p:sp>
          <p:nvSpPr>
            <p:cNvPr name="Freeform 24" id="24"/>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25" id="25"/>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26" id="26"/>
          <p:cNvGrpSpPr/>
          <p:nvPr/>
        </p:nvGrpSpPr>
        <p:grpSpPr>
          <a:xfrm rot="0">
            <a:off x="7725926" y="4917400"/>
            <a:ext cx="562492" cy="452200"/>
            <a:chOff x="0" y="0"/>
            <a:chExt cx="647700" cy="520700"/>
          </a:xfrm>
        </p:grpSpPr>
        <p:sp>
          <p:nvSpPr>
            <p:cNvPr name="Freeform 27" id="2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28" id="2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29" id="29"/>
          <p:cNvGrpSpPr/>
          <p:nvPr/>
        </p:nvGrpSpPr>
        <p:grpSpPr>
          <a:xfrm rot="0">
            <a:off x="15841226" y="4917400"/>
            <a:ext cx="562492" cy="452200"/>
            <a:chOff x="0" y="0"/>
            <a:chExt cx="647700" cy="520700"/>
          </a:xfrm>
        </p:grpSpPr>
        <p:sp>
          <p:nvSpPr>
            <p:cNvPr name="Freeform 30" id="3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31" id="3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sp>
        <p:nvSpPr>
          <p:cNvPr name="TextBox 32" id="32"/>
          <p:cNvSpPr txBox="true"/>
          <p:nvPr/>
        </p:nvSpPr>
        <p:spPr>
          <a:xfrm rot="0">
            <a:off x="1304786" y="4656904"/>
            <a:ext cx="1141844" cy="843797"/>
          </a:xfrm>
          <a:prstGeom prst="rect">
            <a:avLst/>
          </a:prstGeom>
        </p:spPr>
        <p:txBody>
          <a:bodyPr anchor="t" rtlCol="false" tIns="0" lIns="0" bIns="0" rIns="0">
            <a:spAutoFit/>
          </a:bodyPr>
          <a:lstStyle/>
          <a:p>
            <a:pPr algn="ctr" marL="0" indent="0" lvl="0">
              <a:lnSpc>
                <a:spcPts val="5875"/>
              </a:lnSpc>
            </a:pPr>
            <a:r>
              <a:rPr lang="en-US" b="true" sz="5995">
                <a:solidFill>
                  <a:srgbClr val="1E293B"/>
                </a:solidFill>
                <a:latin typeface="Poppins Semi-Bold"/>
                <a:ea typeface="Poppins Semi-Bold"/>
                <a:cs typeface="Poppins Semi-Bold"/>
                <a:sym typeface="Poppins Semi-Bold"/>
              </a:rPr>
              <a:t>01</a:t>
            </a:r>
          </a:p>
        </p:txBody>
      </p:sp>
      <p:sp>
        <p:nvSpPr>
          <p:cNvPr name="TextBox 33" id="33"/>
          <p:cNvSpPr txBox="true"/>
          <p:nvPr/>
        </p:nvSpPr>
        <p:spPr>
          <a:xfrm rot="0">
            <a:off x="9551147" y="4656904"/>
            <a:ext cx="1141844" cy="843797"/>
          </a:xfrm>
          <a:prstGeom prst="rect">
            <a:avLst/>
          </a:prstGeom>
        </p:spPr>
        <p:txBody>
          <a:bodyPr anchor="t" rtlCol="false" tIns="0" lIns="0" bIns="0" rIns="0">
            <a:spAutoFit/>
          </a:bodyPr>
          <a:lstStyle/>
          <a:p>
            <a:pPr algn="ctr" marL="0" indent="0" lvl="0">
              <a:lnSpc>
                <a:spcPts val="5875"/>
              </a:lnSpc>
            </a:pPr>
            <a:r>
              <a:rPr lang="en-US" b="true" sz="5995">
                <a:solidFill>
                  <a:srgbClr val="1E293B"/>
                </a:solidFill>
                <a:latin typeface="Poppins Semi-Bold"/>
                <a:ea typeface="Poppins Semi-Bold"/>
                <a:cs typeface="Poppins Semi-Bold"/>
                <a:sym typeface="Poppins Semi-Bold"/>
              </a:rPr>
              <a:t>03</a:t>
            </a:r>
          </a:p>
        </p:txBody>
      </p:sp>
      <p:sp>
        <p:nvSpPr>
          <p:cNvPr name="TextBox 34" id="34"/>
          <p:cNvSpPr txBox="true"/>
          <p:nvPr/>
        </p:nvSpPr>
        <p:spPr>
          <a:xfrm rot="0">
            <a:off x="1304786" y="7526404"/>
            <a:ext cx="1141844" cy="843797"/>
          </a:xfrm>
          <a:prstGeom prst="rect">
            <a:avLst/>
          </a:prstGeom>
        </p:spPr>
        <p:txBody>
          <a:bodyPr anchor="t" rtlCol="false" tIns="0" lIns="0" bIns="0" rIns="0">
            <a:spAutoFit/>
          </a:bodyPr>
          <a:lstStyle/>
          <a:p>
            <a:pPr algn="ctr" marL="0" indent="0" lvl="0">
              <a:lnSpc>
                <a:spcPts val="5875"/>
              </a:lnSpc>
            </a:pPr>
            <a:r>
              <a:rPr lang="en-US" b="true" sz="5995">
                <a:solidFill>
                  <a:srgbClr val="1E293B"/>
                </a:solidFill>
                <a:latin typeface="Poppins Semi-Bold"/>
                <a:ea typeface="Poppins Semi-Bold"/>
                <a:cs typeface="Poppins Semi-Bold"/>
                <a:sym typeface="Poppins Semi-Bold"/>
              </a:rPr>
              <a:t>02</a:t>
            </a:r>
          </a:p>
        </p:txBody>
      </p:sp>
      <p:sp>
        <p:nvSpPr>
          <p:cNvPr name="TextBox 35" id="35"/>
          <p:cNvSpPr txBox="true"/>
          <p:nvPr/>
        </p:nvSpPr>
        <p:spPr>
          <a:xfrm rot="0">
            <a:off x="9551147" y="7575374"/>
            <a:ext cx="1141844" cy="843797"/>
          </a:xfrm>
          <a:prstGeom prst="rect">
            <a:avLst/>
          </a:prstGeom>
        </p:spPr>
        <p:txBody>
          <a:bodyPr anchor="t" rtlCol="false" tIns="0" lIns="0" bIns="0" rIns="0">
            <a:spAutoFit/>
          </a:bodyPr>
          <a:lstStyle/>
          <a:p>
            <a:pPr algn="ctr" marL="0" indent="0" lvl="0">
              <a:lnSpc>
                <a:spcPts val="5875"/>
              </a:lnSpc>
            </a:pPr>
            <a:r>
              <a:rPr lang="en-US" b="true" sz="5995">
                <a:solidFill>
                  <a:srgbClr val="1E293B"/>
                </a:solidFill>
                <a:latin typeface="Poppins Semi-Bold"/>
                <a:ea typeface="Poppins Semi-Bold"/>
                <a:cs typeface="Poppins Semi-Bold"/>
                <a:sym typeface="Poppins Semi-Bold"/>
              </a:rPr>
              <a:t>04</a:t>
            </a:r>
          </a:p>
        </p:txBody>
      </p:sp>
      <p:sp>
        <p:nvSpPr>
          <p:cNvPr name="TextBox 36" id="36"/>
          <p:cNvSpPr txBox="true"/>
          <p:nvPr/>
        </p:nvSpPr>
        <p:spPr>
          <a:xfrm rot="0">
            <a:off x="3116548" y="4552129"/>
            <a:ext cx="4251723" cy="1071880"/>
          </a:xfrm>
          <a:prstGeom prst="rect">
            <a:avLst/>
          </a:prstGeom>
        </p:spPr>
        <p:txBody>
          <a:bodyPr anchor="t" rtlCol="false" tIns="0" lIns="0" bIns="0" rIns="0">
            <a:spAutoFit/>
          </a:bodyPr>
          <a:lstStyle/>
          <a:p>
            <a:pPr algn="l" marL="0" indent="0" lvl="0">
              <a:lnSpc>
                <a:spcPts val="2869"/>
              </a:lnSpc>
            </a:pPr>
            <a:r>
              <a:rPr lang="en-US" sz="2049">
                <a:solidFill>
                  <a:srgbClr val="1E293B"/>
                </a:solidFill>
                <a:latin typeface="Open Sans"/>
                <a:ea typeface="Open Sans"/>
                <a:cs typeface="Open Sans"/>
                <a:sym typeface="Open Sans"/>
              </a:rPr>
              <a:t>Customer Segmentation: Distinct user groups identified based on behavior and data usage patterns.</a:t>
            </a:r>
          </a:p>
        </p:txBody>
      </p:sp>
      <p:sp>
        <p:nvSpPr>
          <p:cNvPr name="TextBox 37" id="37"/>
          <p:cNvSpPr txBox="true"/>
          <p:nvPr/>
        </p:nvSpPr>
        <p:spPr>
          <a:xfrm rot="0">
            <a:off x="11394967" y="4437470"/>
            <a:ext cx="4727505" cy="1055705"/>
          </a:xfrm>
          <a:prstGeom prst="rect">
            <a:avLst/>
          </a:prstGeom>
        </p:spPr>
        <p:txBody>
          <a:bodyPr anchor="t" rtlCol="false" tIns="0" lIns="0" bIns="0" rIns="0">
            <a:spAutoFit/>
          </a:bodyPr>
          <a:lstStyle/>
          <a:p>
            <a:pPr algn="l" marL="0" indent="0" lvl="0">
              <a:lnSpc>
                <a:spcPts val="2861"/>
              </a:lnSpc>
            </a:pPr>
            <a:r>
              <a:rPr lang="en-US" sz="2044">
                <a:solidFill>
                  <a:srgbClr val="1E293B"/>
                </a:solidFill>
                <a:latin typeface="Open Sans"/>
                <a:ea typeface="Open Sans"/>
                <a:cs typeface="Open Sans"/>
                <a:sym typeface="Open Sans"/>
              </a:rPr>
              <a:t>Network Performance: Key areas for quality improvement identified via TCP, RTT &amp; throughput metrics.</a:t>
            </a:r>
          </a:p>
        </p:txBody>
      </p:sp>
      <p:sp>
        <p:nvSpPr>
          <p:cNvPr name="TextBox 38" id="38"/>
          <p:cNvSpPr txBox="true"/>
          <p:nvPr/>
        </p:nvSpPr>
        <p:spPr>
          <a:xfrm rot="0">
            <a:off x="3100055" y="7376405"/>
            <a:ext cx="4296180" cy="1071880"/>
          </a:xfrm>
          <a:prstGeom prst="rect">
            <a:avLst/>
          </a:prstGeom>
        </p:spPr>
        <p:txBody>
          <a:bodyPr anchor="t" rtlCol="false" tIns="0" lIns="0" bIns="0" rIns="0">
            <a:spAutoFit/>
          </a:bodyPr>
          <a:lstStyle/>
          <a:p>
            <a:pPr algn="l" marL="0" indent="0" lvl="0">
              <a:lnSpc>
                <a:spcPts val="2869"/>
              </a:lnSpc>
            </a:pPr>
            <a:r>
              <a:rPr lang="en-US" sz="2049">
                <a:solidFill>
                  <a:srgbClr val="1E293B"/>
                </a:solidFill>
                <a:latin typeface="Open Sans"/>
                <a:ea typeface="Open Sans"/>
                <a:cs typeface="Open Sans"/>
                <a:sym typeface="Open Sans"/>
              </a:rPr>
              <a:t>Popular Devices: Handset preferences reveal market trends and inform product offerings.</a:t>
            </a:r>
          </a:p>
        </p:txBody>
      </p:sp>
      <p:sp>
        <p:nvSpPr>
          <p:cNvPr name="TextBox 39" id="39"/>
          <p:cNvSpPr txBox="true"/>
          <p:nvPr/>
        </p:nvSpPr>
        <p:spPr>
          <a:xfrm rot="0">
            <a:off x="11394967" y="7169348"/>
            <a:ext cx="4461108" cy="1443609"/>
          </a:xfrm>
          <a:prstGeom prst="rect">
            <a:avLst/>
          </a:prstGeom>
        </p:spPr>
        <p:txBody>
          <a:bodyPr anchor="t" rtlCol="false" tIns="0" lIns="0" bIns="0" rIns="0">
            <a:spAutoFit/>
          </a:bodyPr>
          <a:lstStyle/>
          <a:p>
            <a:pPr algn="l" marL="0" indent="0" lvl="0">
              <a:lnSpc>
                <a:spcPts val="2855"/>
              </a:lnSpc>
            </a:pPr>
            <a:r>
              <a:rPr lang="en-US" sz="2039">
                <a:solidFill>
                  <a:srgbClr val="1E293B"/>
                </a:solidFill>
                <a:latin typeface="Open Sans"/>
                <a:ea typeface="Open Sans"/>
                <a:cs typeface="Open Sans"/>
                <a:sym typeface="Open Sans"/>
              </a:rPr>
              <a:t>Usage Trends &amp; Recommendations: Peak activity patterns and data-driven strategies for growth and retention.</a:t>
            </a:r>
          </a:p>
        </p:txBody>
      </p:sp>
      <p:sp>
        <p:nvSpPr>
          <p:cNvPr name="AutoShape 40" id="40"/>
          <p:cNvSpPr/>
          <p:nvPr/>
        </p:nvSpPr>
        <p:spPr>
          <a:xfrm>
            <a:off x="2730319" y="4188231"/>
            <a:ext cx="0" cy="1910538"/>
          </a:xfrm>
          <a:prstGeom prst="line">
            <a:avLst/>
          </a:prstGeom>
          <a:ln cap="rnd" w="57150">
            <a:solidFill>
              <a:srgbClr val="60A5FA"/>
            </a:solidFill>
            <a:prstDash val="solid"/>
            <a:headEnd type="none" len="sm" w="sm"/>
            <a:tailEnd type="none" len="sm" w="sm"/>
          </a:ln>
        </p:spPr>
      </p:sp>
      <p:sp>
        <p:nvSpPr>
          <p:cNvPr name="AutoShape 41" id="41"/>
          <p:cNvSpPr/>
          <p:nvPr/>
        </p:nvSpPr>
        <p:spPr>
          <a:xfrm>
            <a:off x="11184196" y="4188231"/>
            <a:ext cx="0" cy="1910538"/>
          </a:xfrm>
          <a:prstGeom prst="line">
            <a:avLst/>
          </a:prstGeom>
          <a:ln cap="rnd" w="57150">
            <a:solidFill>
              <a:srgbClr val="60A5FA"/>
            </a:solidFill>
            <a:prstDash val="solid"/>
            <a:headEnd type="none" len="sm" w="sm"/>
            <a:tailEnd type="none" len="sm" w="sm"/>
          </a:ln>
        </p:spPr>
      </p:sp>
      <p:sp>
        <p:nvSpPr>
          <p:cNvPr name="AutoShape 42" id="42"/>
          <p:cNvSpPr/>
          <p:nvPr/>
        </p:nvSpPr>
        <p:spPr>
          <a:xfrm>
            <a:off x="2730319" y="7057731"/>
            <a:ext cx="0" cy="1910538"/>
          </a:xfrm>
          <a:prstGeom prst="line">
            <a:avLst/>
          </a:prstGeom>
          <a:ln cap="rnd" w="57150">
            <a:solidFill>
              <a:srgbClr val="60A5FA"/>
            </a:solidFill>
            <a:prstDash val="solid"/>
            <a:headEnd type="none" len="sm" w="sm"/>
            <a:tailEnd type="none" len="sm" w="sm"/>
          </a:ln>
        </p:spPr>
      </p:sp>
      <p:sp>
        <p:nvSpPr>
          <p:cNvPr name="AutoShape 43" id="43"/>
          <p:cNvSpPr/>
          <p:nvPr/>
        </p:nvSpPr>
        <p:spPr>
          <a:xfrm>
            <a:off x="11184196" y="7057731"/>
            <a:ext cx="0" cy="1910538"/>
          </a:xfrm>
          <a:prstGeom prst="line">
            <a:avLst/>
          </a:prstGeom>
          <a:ln cap="rnd" w="57150">
            <a:solidFill>
              <a:srgbClr val="60A5FA"/>
            </a:solidFill>
            <a:prstDash val="solid"/>
            <a:headEnd type="none" len="sm" w="sm"/>
            <a:tailEnd type="none" len="sm" w="sm"/>
          </a:ln>
        </p:spPr>
      </p:sp>
      <p:grpSp>
        <p:nvGrpSpPr>
          <p:cNvPr name="Group 44" id="44"/>
          <p:cNvGrpSpPr/>
          <p:nvPr/>
        </p:nvGrpSpPr>
        <p:grpSpPr>
          <a:xfrm rot="0">
            <a:off x="9551147" y="-4310188"/>
            <a:ext cx="7244181" cy="7244181"/>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46" id="4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79205" y="769512"/>
            <a:ext cx="957310" cy="1096649"/>
          </a:xfrm>
          <a:custGeom>
            <a:avLst/>
            <a:gdLst/>
            <a:ahLst/>
            <a:cxnLst/>
            <a:rect r="r" b="b" t="t" l="l"/>
            <a:pathLst>
              <a:path h="1096649" w="957310">
                <a:moveTo>
                  <a:pt x="0" y="0"/>
                </a:moveTo>
                <a:lnTo>
                  <a:pt x="957311" y="0"/>
                </a:lnTo>
                <a:lnTo>
                  <a:pt x="957311" y="1096649"/>
                </a:lnTo>
                <a:lnTo>
                  <a:pt x="0" y="1096649"/>
                </a:lnTo>
                <a:lnTo>
                  <a:pt x="0" y="0"/>
                </a:lnTo>
                <a:close/>
              </a:path>
            </a:pathLst>
          </a:custGeom>
          <a:blipFill>
            <a:blip r:embed="rId2"/>
            <a:stretch>
              <a:fillRect l="0" t="0" r="0" b="0"/>
            </a:stretch>
          </a:blipFill>
        </p:spPr>
      </p:sp>
      <p:grpSp>
        <p:nvGrpSpPr>
          <p:cNvPr name="Group 6" id="6"/>
          <p:cNvGrpSpPr/>
          <p:nvPr/>
        </p:nvGrpSpPr>
        <p:grpSpPr>
          <a:xfrm rot="0">
            <a:off x="1028700" y="5143500"/>
            <a:ext cx="3022616" cy="2009215"/>
            <a:chOff x="0" y="0"/>
            <a:chExt cx="796080" cy="529176"/>
          </a:xfrm>
        </p:grpSpPr>
        <p:sp>
          <p:nvSpPr>
            <p:cNvPr name="Freeform 7" id="7"/>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8" id="8"/>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7632692" y="5143500"/>
            <a:ext cx="3022616" cy="2009215"/>
            <a:chOff x="0" y="0"/>
            <a:chExt cx="796080" cy="529176"/>
          </a:xfrm>
        </p:grpSpPr>
        <p:sp>
          <p:nvSpPr>
            <p:cNvPr name="Freeform 10" id="10"/>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1" id="11"/>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4330696" y="5143500"/>
            <a:ext cx="3022616" cy="2009215"/>
            <a:chOff x="0" y="0"/>
            <a:chExt cx="796080" cy="529176"/>
          </a:xfrm>
        </p:grpSpPr>
        <p:sp>
          <p:nvSpPr>
            <p:cNvPr name="Freeform 13" id="13"/>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4" id="14"/>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10931533" y="5143500"/>
            <a:ext cx="3022616" cy="2009215"/>
            <a:chOff x="0" y="0"/>
            <a:chExt cx="796080" cy="529176"/>
          </a:xfrm>
        </p:grpSpPr>
        <p:sp>
          <p:nvSpPr>
            <p:cNvPr name="Freeform 16" id="16"/>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7" id="17"/>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14230373" y="5143500"/>
            <a:ext cx="3022616" cy="2009215"/>
            <a:chOff x="0" y="0"/>
            <a:chExt cx="796080" cy="529176"/>
          </a:xfrm>
        </p:grpSpPr>
        <p:sp>
          <p:nvSpPr>
            <p:cNvPr name="Freeform 19" id="19"/>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20" id="20"/>
            <p:cNvSpPr txBox="true"/>
            <p:nvPr/>
          </p:nvSpPr>
          <p:spPr>
            <a:xfrm>
              <a:off x="0" y="-47625"/>
              <a:ext cx="796080" cy="576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1028700" y="6706187"/>
            <a:ext cx="3022616" cy="2552113"/>
            <a:chOff x="0" y="0"/>
            <a:chExt cx="796080" cy="672161"/>
          </a:xfrm>
        </p:grpSpPr>
        <p:sp>
          <p:nvSpPr>
            <p:cNvPr name="Freeform 22" id="22"/>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3" id="23"/>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4" id="24"/>
          <p:cNvGrpSpPr/>
          <p:nvPr/>
        </p:nvGrpSpPr>
        <p:grpSpPr>
          <a:xfrm rot="0">
            <a:off x="7632692" y="6706187"/>
            <a:ext cx="3022616" cy="2552113"/>
            <a:chOff x="0" y="0"/>
            <a:chExt cx="796080" cy="672161"/>
          </a:xfrm>
        </p:grpSpPr>
        <p:sp>
          <p:nvSpPr>
            <p:cNvPr name="Freeform 25" id="25"/>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6" id="26"/>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27" id="27"/>
          <p:cNvGrpSpPr/>
          <p:nvPr/>
        </p:nvGrpSpPr>
        <p:grpSpPr>
          <a:xfrm rot="0">
            <a:off x="4330696" y="6706187"/>
            <a:ext cx="3022616" cy="2552113"/>
            <a:chOff x="0" y="0"/>
            <a:chExt cx="796080" cy="672161"/>
          </a:xfrm>
        </p:grpSpPr>
        <p:sp>
          <p:nvSpPr>
            <p:cNvPr name="Freeform 28" id="28"/>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9" id="29"/>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0" id="30"/>
          <p:cNvGrpSpPr/>
          <p:nvPr/>
        </p:nvGrpSpPr>
        <p:grpSpPr>
          <a:xfrm rot="0">
            <a:off x="10931533" y="6706187"/>
            <a:ext cx="3022616" cy="2552113"/>
            <a:chOff x="0" y="0"/>
            <a:chExt cx="796080" cy="672161"/>
          </a:xfrm>
        </p:grpSpPr>
        <p:sp>
          <p:nvSpPr>
            <p:cNvPr name="Freeform 31" id="31"/>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2" id="32"/>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3" id="33"/>
          <p:cNvGrpSpPr/>
          <p:nvPr/>
        </p:nvGrpSpPr>
        <p:grpSpPr>
          <a:xfrm rot="0">
            <a:off x="14230373" y="6706187"/>
            <a:ext cx="3022616" cy="2552113"/>
            <a:chOff x="0" y="0"/>
            <a:chExt cx="796080" cy="672161"/>
          </a:xfrm>
        </p:grpSpPr>
        <p:sp>
          <p:nvSpPr>
            <p:cNvPr name="Freeform 34" id="34"/>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5" id="35"/>
            <p:cNvSpPr txBox="true"/>
            <p:nvPr/>
          </p:nvSpPr>
          <p:spPr>
            <a:xfrm>
              <a:off x="0" y="-47625"/>
              <a:ext cx="796080" cy="719786"/>
            </a:xfrm>
            <a:prstGeom prst="rect">
              <a:avLst/>
            </a:prstGeom>
          </p:spPr>
          <p:txBody>
            <a:bodyPr anchor="ctr" rtlCol="false" tIns="50800" lIns="50800" bIns="50800" rIns="50800"/>
            <a:lstStyle/>
            <a:p>
              <a:pPr algn="ctr" marL="0" indent="0" lvl="0">
                <a:lnSpc>
                  <a:spcPts val="3499"/>
                </a:lnSpc>
              </a:pPr>
            </a:p>
          </p:txBody>
        </p:sp>
      </p:grpSp>
      <p:grpSp>
        <p:nvGrpSpPr>
          <p:cNvPr name="Group 36" id="36"/>
          <p:cNvGrpSpPr/>
          <p:nvPr/>
        </p:nvGrpSpPr>
        <p:grpSpPr>
          <a:xfrm rot="-5400000">
            <a:off x="2258762"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39" id="39"/>
          <p:cNvGrpSpPr/>
          <p:nvPr/>
        </p:nvGrpSpPr>
        <p:grpSpPr>
          <a:xfrm rot="-5400000">
            <a:off x="8862754"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2" id="42"/>
          <p:cNvGrpSpPr/>
          <p:nvPr/>
        </p:nvGrpSpPr>
        <p:grpSpPr>
          <a:xfrm rot="-5400000">
            <a:off x="5560758" y="6480088"/>
            <a:ext cx="562492" cy="452200"/>
            <a:chOff x="0" y="0"/>
            <a:chExt cx="647700" cy="520700"/>
          </a:xfrm>
        </p:grpSpPr>
        <p:sp>
          <p:nvSpPr>
            <p:cNvPr name="Freeform 43" id="4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4" id="44"/>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5" id="45"/>
          <p:cNvGrpSpPr/>
          <p:nvPr/>
        </p:nvGrpSpPr>
        <p:grpSpPr>
          <a:xfrm rot="-5400000">
            <a:off x="12161595" y="6480088"/>
            <a:ext cx="562492" cy="452200"/>
            <a:chOff x="0" y="0"/>
            <a:chExt cx="647700" cy="520700"/>
          </a:xfrm>
        </p:grpSpPr>
        <p:sp>
          <p:nvSpPr>
            <p:cNvPr name="Freeform 46" id="4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7" id="47"/>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grpSp>
        <p:nvGrpSpPr>
          <p:cNvPr name="Group 48" id="48"/>
          <p:cNvGrpSpPr/>
          <p:nvPr/>
        </p:nvGrpSpPr>
        <p:grpSpPr>
          <a:xfrm rot="-5400000">
            <a:off x="15460435" y="6480088"/>
            <a:ext cx="562492" cy="452200"/>
            <a:chOff x="0" y="0"/>
            <a:chExt cx="647700" cy="520700"/>
          </a:xfrm>
        </p:grpSpPr>
        <p:sp>
          <p:nvSpPr>
            <p:cNvPr name="Freeform 49" id="4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50" id="50"/>
            <p:cNvSpPr txBox="true"/>
            <p:nvPr/>
          </p:nvSpPr>
          <p:spPr>
            <a:xfrm>
              <a:off x="152400" y="66675"/>
              <a:ext cx="342900" cy="339725"/>
            </a:xfrm>
            <a:prstGeom prst="rect">
              <a:avLst/>
            </a:prstGeom>
          </p:spPr>
          <p:txBody>
            <a:bodyPr anchor="ctr" rtlCol="false" tIns="50800" lIns="50800" bIns="50800" rIns="50800"/>
            <a:lstStyle/>
            <a:p>
              <a:pPr algn="ctr" marL="0" indent="0" lvl="0">
                <a:lnSpc>
                  <a:spcPts val="3499"/>
                </a:lnSpc>
              </a:pPr>
            </a:p>
          </p:txBody>
        </p:sp>
      </p:grpSp>
      <p:sp>
        <p:nvSpPr>
          <p:cNvPr name="Freeform 51" id="51"/>
          <p:cNvSpPr/>
          <p:nvPr/>
        </p:nvSpPr>
        <p:spPr>
          <a:xfrm flipH="false" flipV="false" rot="0">
            <a:off x="2571278" y="1317949"/>
            <a:ext cx="6310184" cy="2555625"/>
          </a:xfrm>
          <a:custGeom>
            <a:avLst/>
            <a:gdLst/>
            <a:ahLst/>
            <a:cxnLst/>
            <a:rect r="r" b="b" t="t" l="l"/>
            <a:pathLst>
              <a:path h="2555625" w="6310184">
                <a:moveTo>
                  <a:pt x="0" y="0"/>
                </a:moveTo>
                <a:lnTo>
                  <a:pt x="6310184" y="0"/>
                </a:lnTo>
                <a:lnTo>
                  <a:pt x="6310184" y="2555624"/>
                </a:lnTo>
                <a:lnTo>
                  <a:pt x="0" y="2555624"/>
                </a:lnTo>
                <a:lnTo>
                  <a:pt x="0" y="0"/>
                </a:lnTo>
                <a:close/>
              </a:path>
            </a:pathLst>
          </a:custGeom>
          <a:blipFill>
            <a:blip r:embed="rId3"/>
            <a:stretch>
              <a:fillRect l="0" t="0" r="0" b="0"/>
            </a:stretch>
          </a:blipFill>
        </p:spPr>
      </p:sp>
      <p:sp>
        <p:nvSpPr>
          <p:cNvPr name="TextBox 52" id="52"/>
          <p:cNvSpPr txBox="true"/>
          <p:nvPr/>
        </p:nvSpPr>
        <p:spPr>
          <a:xfrm rot="0">
            <a:off x="10280828" y="1114425"/>
            <a:ext cx="6978472" cy="1128396"/>
          </a:xfrm>
          <a:prstGeom prst="rect">
            <a:avLst/>
          </a:prstGeom>
        </p:spPr>
        <p:txBody>
          <a:bodyPr anchor="t" rtlCol="false" tIns="0" lIns="0" bIns="0" rIns="0">
            <a:spAutoFit/>
          </a:bodyPr>
          <a:lstStyle/>
          <a:p>
            <a:pPr algn="l" marL="0" indent="0" lvl="0">
              <a:lnSpc>
                <a:spcPts val="7840"/>
              </a:lnSpc>
            </a:pPr>
            <a:r>
              <a:rPr lang="en-US" b="true" sz="8000">
                <a:solidFill>
                  <a:srgbClr val="1E293B"/>
                </a:solidFill>
                <a:latin typeface="Poppins Semi-Bold"/>
                <a:ea typeface="Poppins Semi-Bold"/>
                <a:cs typeface="Poppins Semi-Bold"/>
                <a:sym typeface="Poppins Semi-Bold"/>
              </a:rPr>
              <a:t>Future Scope</a:t>
            </a:r>
          </a:p>
        </p:txBody>
      </p:sp>
      <p:sp>
        <p:nvSpPr>
          <p:cNvPr name="TextBox 53" id="53"/>
          <p:cNvSpPr txBox="true"/>
          <p:nvPr/>
        </p:nvSpPr>
        <p:spPr>
          <a:xfrm rot="0">
            <a:off x="1336098" y="5476777"/>
            <a:ext cx="2408888" cy="701040"/>
          </a:xfrm>
          <a:prstGeom prst="rect">
            <a:avLst/>
          </a:prstGeom>
        </p:spPr>
        <p:txBody>
          <a:bodyPr anchor="t" rtlCol="false" tIns="0" lIns="0" bIns="0" rIns="0">
            <a:spAutoFit/>
          </a:bodyPr>
          <a:lstStyle/>
          <a:p>
            <a:pPr algn="ctr" marL="0" indent="0" lvl="0">
              <a:lnSpc>
                <a:spcPts val="2835"/>
              </a:lnSpc>
            </a:pPr>
            <a:r>
              <a:rPr lang="en-US" b="true" sz="2025">
                <a:solidFill>
                  <a:srgbClr val="1E293B"/>
                </a:solidFill>
                <a:latin typeface="Open Sans Bold"/>
                <a:ea typeface="Open Sans Bold"/>
                <a:cs typeface="Open Sans Bold"/>
                <a:sym typeface="Open Sans Bold"/>
              </a:rPr>
              <a:t>AI Recommendations</a:t>
            </a:r>
          </a:p>
        </p:txBody>
      </p:sp>
      <p:sp>
        <p:nvSpPr>
          <p:cNvPr name="TextBox 54" id="54"/>
          <p:cNvSpPr txBox="true"/>
          <p:nvPr/>
        </p:nvSpPr>
        <p:spPr>
          <a:xfrm rot="0">
            <a:off x="7940090" y="5476777"/>
            <a:ext cx="2408888" cy="348615"/>
          </a:xfrm>
          <a:prstGeom prst="rect">
            <a:avLst/>
          </a:prstGeom>
        </p:spPr>
        <p:txBody>
          <a:bodyPr anchor="t" rtlCol="false" tIns="0" lIns="0" bIns="0" rIns="0">
            <a:spAutoFit/>
          </a:bodyPr>
          <a:lstStyle/>
          <a:p>
            <a:pPr algn="ctr" marL="0" indent="0" lvl="0">
              <a:lnSpc>
                <a:spcPts val="2835"/>
              </a:lnSpc>
            </a:pPr>
            <a:r>
              <a:rPr lang="en-US" b="true" sz="2025">
                <a:solidFill>
                  <a:srgbClr val="1E293B"/>
                </a:solidFill>
                <a:latin typeface="Open Sans Bold"/>
                <a:ea typeface="Open Sans Bold"/>
                <a:cs typeface="Open Sans Bold"/>
                <a:sym typeface="Open Sans Bold"/>
              </a:rPr>
              <a:t>Churn Prediction</a:t>
            </a:r>
          </a:p>
        </p:txBody>
      </p:sp>
      <p:sp>
        <p:nvSpPr>
          <p:cNvPr name="TextBox 55" id="55"/>
          <p:cNvSpPr txBox="true"/>
          <p:nvPr/>
        </p:nvSpPr>
        <p:spPr>
          <a:xfrm rot="0">
            <a:off x="4638094" y="5476777"/>
            <a:ext cx="2408888" cy="701040"/>
          </a:xfrm>
          <a:prstGeom prst="rect">
            <a:avLst/>
          </a:prstGeom>
        </p:spPr>
        <p:txBody>
          <a:bodyPr anchor="t" rtlCol="false" tIns="0" lIns="0" bIns="0" rIns="0">
            <a:spAutoFit/>
          </a:bodyPr>
          <a:lstStyle/>
          <a:p>
            <a:pPr algn="ctr" marL="0" indent="0" lvl="0">
              <a:lnSpc>
                <a:spcPts val="2835"/>
              </a:lnSpc>
            </a:pPr>
            <a:r>
              <a:rPr lang="en-US" b="true" sz="2025">
                <a:solidFill>
                  <a:srgbClr val="1E293B"/>
                </a:solidFill>
                <a:latin typeface="Open Sans Bold"/>
                <a:ea typeface="Open Sans Bold"/>
                <a:cs typeface="Open Sans Bold"/>
                <a:sym typeface="Open Sans Bold"/>
              </a:rPr>
              <a:t>Predictive Analytics</a:t>
            </a:r>
          </a:p>
        </p:txBody>
      </p:sp>
      <p:sp>
        <p:nvSpPr>
          <p:cNvPr name="TextBox 56" id="56"/>
          <p:cNvSpPr txBox="true"/>
          <p:nvPr/>
        </p:nvSpPr>
        <p:spPr>
          <a:xfrm rot="0">
            <a:off x="11238931" y="5476777"/>
            <a:ext cx="2408888" cy="701040"/>
          </a:xfrm>
          <a:prstGeom prst="rect">
            <a:avLst/>
          </a:prstGeom>
        </p:spPr>
        <p:txBody>
          <a:bodyPr anchor="t" rtlCol="false" tIns="0" lIns="0" bIns="0" rIns="0">
            <a:spAutoFit/>
          </a:bodyPr>
          <a:lstStyle/>
          <a:p>
            <a:pPr algn="ctr" marL="0" indent="0" lvl="0">
              <a:lnSpc>
                <a:spcPts val="2835"/>
              </a:lnSpc>
            </a:pPr>
            <a:r>
              <a:rPr lang="en-US" b="true" sz="2025">
                <a:solidFill>
                  <a:srgbClr val="1E293B"/>
                </a:solidFill>
                <a:latin typeface="Open Sans Bold"/>
                <a:ea typeface="Open Sans Bold"/>
                <a:cs typeface="Open Sans Bold"/>
                <a:sym typeface="Open Sans Bold"/>
              </a:rPr>
              <a:t>Real-Time Dashboards</a:t>
            </a:r>
          </a:p>
        </p:txBody>
      </p:sp>
      <p:sp>
        <p:nvSpPr>
          <p:cNvPr name="TextBox 57" id="57"/>
          <p:cNvSpPr txBox="true"/>
          <p:nvPr/>
        </p:nvSpPr>
        <p:spPr>
          <a:xfrm rot="0">
            <a:off x="14537771" y="5476777"/>
            <a:ext cx="2408888" cy="348615"/>
          </a:xfrm>
          <a:prstGeom prst="rect">
            <a:avLst/>
          </a:prstGeom>
        </p:spPr>
        <p:txBody>
          <a:bodyPr anchor="t" rtlCol="false" tIns="0" lIns="0" bIns="0" rIns="0">
            <a:spAutoFit/>
          </a:bodyPr>
          <a:lstStyle/>
          <a:p>
            <a:pPr algn="ctr" marL="0" indent="0" lvl="0">
              <a:lnSpc>
                <a:spcPts val="2835"/>
              </a:lnSpc>
            </a:pPr>
            <a:r>
              <a:rPr lang="en-US" b="true" sz="2025">
                <a:solidFill>
                  <a:srgbClr val="1E293B"/>
                </a:solidFill>
                <a:latin typeface="Open Sans Bold"/>
                <a:ea typeface="Open Sans Bold"/>
                <a:cs typeface="Open Sans Bold"/>
                <a:sym typeface="Open Sans Bold"/>
              </a:rPr>
              <a:t>Cloud &amp; Power BI</a:t>
            </a:r>
          </a:p>
        </p:txBody>
      </p:sp>
      <p:sp>
        <p:nvSpPr>
          <p:cNvPr name="TextBox 58" id="58"/>
          <p:cNvSpPr txBox="true"/>
          <p:nvPr/>
        </p:nvSpPr>
        <p:spPr>
          <a:xfrm rot="0">
            <a:off x="1432349"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AI</a:t>
            </a:r>
          </a:p>
        </p:txBody>
      </p:sp>
      <p:sp>
        <p:nvSpPr>
          <p:cNvPr name="TextBox 59" id="59"/>
          <p:cNvSpPr txBox="true"/>
          <p:nvPr/>
        </p:nvSpPr>
        <p:spPr>
          <a:xfrm rot="0">
            <a:off x="4769621"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ML</a:t>
            </a:r>
          </a:p>
        </p:txBody>
      </p:sp>
      <p:sp>
        <p:nvSpPr>
          <p:cNvPr name="TextBox 60" id="60"/>
          <p:cNvSpPr txBox="true"/>
          <p:nvPr/>
        </p:nvSpPr>
        <p:spPr>
          <a:xfrm rot="0">
            <a:off x="8067687"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CRM</a:t>
            </a:r>
          </a:p>
        </p:txBody>
      </p:sp>
      <p:sp>
        <p:nvSpPr>
          <p:cNvPr name="TextBox 61" id="61"/>
          <p:cNvSpPr txBox="true"/>
          <p:nvPr/>
        </p:nvSpPr>
        <p:spPr>
          <a:xfrm rot="0">
            <a:off x="11407783"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Live</a:t>
            </a:r>
          </a:p>
        </p:txBody>
      </p:sp>
      <p:sp>
        <p:nvSpPr>
          <p:cNvPr name="TextBox 62" id="62"/>
          <p:cNvSpPr txBox="true"/>
          <p:nvPr/>
        </p:nvSpPr>
        <p:spPr>
          <a:xfrm rot="0">
            <a:off x="14706623" y="7714690"/>
            <a:ext cx="2145834" cy="843797"/>
          </a:xfrm>
          <a:prstGeom prst="rect">
            <a:avLst/>
          </a:prstGeom>
        </p:spPr>
        <p:txBody>
          <a:bodyPr anchor="t" rtlCol="false" tIns="0" lIns="0" bIns="0" rIns="0">
            <a:spAutoFit/>
          </a:bodyPr>
          <a:lstStyle/>
          <a:p>
            <a:pPr algn="ctr" marL="0" indent="0" lvl="0">
              <a:lnSpc>
                <a:spcPts val="5875"/>
              </a:lnSpc>
            </a:pPr>
            <a:r>
              <a:rPr lang="en-US" b="true" sz="5995">
                <a:solidFill>
                  <a:srgbClr val="FFFFFF"/>
                </a:solidFill>
                <a:latin typeface="Poppins Semi-Bold"/>
                <a:ea typeface="Poppins Semi-Bold"/>
                <a:cs typeface="Poppins Semi-Bold"/>
                <a:sym typeface="Poppins Semi-Bold"/>
              </a:rPr>
              <a:t>BI</a:t>
            </a:r>
          </a:p>
        </p:txBody>
      </p:sp>
      <p:sp>
        <p:nvSpPr>
          <p:cNvPr name="TextBox 63" id="63"/>
          <p:cNvSpPr txBox="true"/>
          <p:nvPr/>
        </p:nvSpPr>
        <p:spPr>
          <a:xfrm rot="0">
            <a:off x="2129171" y="1024405"/>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232" y="814771"/>
            <a:ext cx="855564" cy="1006789"/>
          </a:xfrm>
          <a:custGeom>
            <a:avLst/>
            <a:gdLst/>
            <a:ahLst/>
            <a:cxnLst/>
            <a:rect r="r" b="b" t="t" l="l"/>
            <a:pathLst>
              <a:path h="1006789" w="855564">
                <a:moveTo>
                  <a:pt x="0" y="0"/>
                </a:moveTo>
                <a:lnTo>
                  <a:pt x="855563" y="0"/>
                </a:lnTo>
                <a:lnTo>
                  <a:pt x="855563" y="1006789"/>
                </a:lnTo>
                <a:lnTo>
                  <a:pt x="0" y="1006789"/>
                </a:lnTo>
                <a:lnTo>
                  <a:pt x="0" y="0"/>
                </a:lnTo>
                <a:close/>
              </a:path>
            </a:pathLst>
          </a:custGeom>
          <a:blipFill>
            <a:blip r:embed="rId2"/>
            <a:stretch>
              <a:fillRect l="0" t="0" r="0" b="0"/>
            </a:stretch>
          </a:blipFill>
        </p:spPr>
      </p:sp>
      <p:sp>
        <p:nvSpPr>
          <p:cNvPr name="TextBox 6" id="6"/>
          <p:cNvSpPr txBox="true"/>
          <p:nvPr/>
        </p:nvSpPr>
        <p:spPr>
          <a:xfrm rot="0">
            <a:off x="1028700" y="2226019"/>
            <a:ext cx="10431099" cy="1128239"/>
          </a:xfrm>
          <a:prstGeom prst="rect">
            <a:avLst/>
          </a:prstGeom>
        </p:spPr>
        <p:txBody>
          <a:bodyPr anchor="t" rtlCol="false" tIns="0" lIns="0" bIns="0" rIns="0">
            <a:spAutoFit/>
          </a:bodyPr>
          <a:lstStyle/>
          <a:p>
            <a:pPr algn="l" marL="0" indent="0" lvl="0">
              <a:lnSpc>
                <a:spcPts val="7834"/>
              </a:lnSpc>
            </a:pPr>
            <a:r>
              <a:rPr lang="en-US" b="true" sz="7994">
                <a:solidFill>
                  <a:srgbClr val="1E293B"/>
                </a:solidFill>
                <a:latin typeface="Poppins Semi-Bold"/>
                <a:ea typeface="Poppins Semi-Bold"/>
                <a:cs typeface="Poppins Semi-Bold"/>
                <a:sym typeface="Poppins Semi-Bold"/>
              </a:rPr>
              <a:t>Conclusion</a:t>
            </a:r>
          </a:p>
        </p:txBody>
      </p:sp>
      <p:grpSp>
        <p:nvGrpSpPr>
          <p:cNvPr name="Group 7" id="7"/>
          <p:cNvGrpSpPr/>
          <p:nvPr/>
        </p:nvGrpSpPr>
        <p:grpSpPr>
          <a:xfrm rot="0">
            <a:off x="6349619" y="3867444"/>
            <a:ext cx="10909681" cy="5390856"/>
            <a:chOff x="0" y="0"/>
            <a:chExt cx="2873332" cy="1419814"/>
          </a:xfrm>
        </p:grpSpPr>
        <p:sp>
          <p:nvSpPr>
            <p:cNvPr name="Freeform 8" id="8"/>
            <p:cNvSpPr/>
            <p:nvPr/>
          </p:nvSpPr>
          <p:spPr>
            <a:xfrm flipH="false" flipV="false" rot="0">
              <a:off x="0" y="0"/>
              <a:ext cx="2873332" cy="1419814"/>
            </a:xfrm>
            <a:custGeom>
              <a:avLst/>
              <a:gdLst/>
              <a:ahLst/>
              <a:cxnLst/>
              <a:rect r="r" b="b" t="t" l="l"/>
              <a:pathLst>
                <a:path h="1419814" w="2873332">
                  <a:moveTo>
                    <a:pt x="10645" y="0"/>
                  </a:moveTo>
                  <a:lnTo>
                    <a:pt x="2862687" y="0"/>
                  </a:lnTo>
                  <a:cubicBezTo>
                    <a:pt x="2868566" y="0"/>
                    <a:pt x="2873332" y="4766"/>
                    <a:pt x="2873332" y="10645"/>
                  </a:cubicBezTo>
                  <a:lnTo>
                    <a:pt x="2873332" y="1409169"/>
                  </a:lnTo>
                  <a:cubicBezTo>
                    <a:pt x="2873332" y="1411993"/>
                    <a:pt x="2872210" y="1414700"/>
                    <a:pt x="2870214" y="1416696"/>
                  </a:cubicBezTo>
                  <a:cubicBezTo>
                    <a:pt x="2868218" y="1418693"/>
                    <a:pt x="2865510" y="1419814"/>
                    <a:pt x="2862687" y="1419814"/>
                  </a:cubicBezTo>
                  <a:lnTo>
                    <a:pt x="10645" y="1419814"/>
                  </a:lnTo>
                  <a:cubicBezTo>
                    <a:pt x="4766" y="1419814"/>
                    <a:pt x="0" y="1415048"/>
                    <a:pt x="0" y="1409169"/>
                  </a:cubicBezTo>
                  <a:lnTo>
                    <a:pt x="0" y="10645"/>
                  </a:lnTo>
                  <a:cubicBezTo>
                    <a:pt x="0" y="7821"/>
                    <a:pt x="1121" y="5114"/>
                    <a:pt x="3118" y="3118"/>
                  </a:cubicBezTo>
                  <a:cubicBezTo>
                    <a:pt x="5114" y="1121"/>
                    <a:pt x="7821" y="0"/>
                    <a:pt x="10645" y="0"/>
                  </a:cubicBezTo>
                  <a:close/>
                </a:path>
              </a:pathLst>
            </a:custGeom>
            <a:gradFill rotWithShape="true">
              <a:gsLst>
                <a:gs pos="0">
                  <a:srgbClr val="BFD9F9">
                    <a:alpha val="100000"/>
                  </a:srgbClr>
                </a:gs>
                <a:gs pos="100000">
                  <a:srgbClr val="F4F9FD">
                    <a:alpha val="100000"/>
                  </a:srgbClr>
                </a:gs>
              </a:gsLst>
              <a:lin ang="5400000"/>
            </a:gradFill>
          </p:spPr>
        </p:sp>
        <p:sp>
          <p:nvSpPr>
            <p:cNvPr name="TextBox 9" id="9"/>
            <p:cNvSpPr txBox="true"/>
            <p:nvPr/>
          </p:nvSpPr>
          <p:spPr>
            <a:xfrm>
              <a:off x="0" y="-47625"/>
              <a:ext cx="2873332" cy="1467439"/>
            </a:xfrm>
            <a:prstGeom prst="rect">
              <a:avLst/>
            </a:prstGeom>
          </p:spPr>
          <p:txBody>
            <a:bodyPr anchor="ctr" rtlCol="false" tIns="50800" lIns="50800" bIns="50800" rIns="50800"/>
            <a:lstStyle/>
            <a:p>
              <a:pPr algn="ctr" marL="0" indent="0" lvl="0">
                <a:lnSpc>
                  <a:spcPts val="3499"/>
                </a:lnSpc>
              </a:pPr>
            </a:p>
          </p:txBody>
        </p:sp>
      </p:grpSp>
      <p:grpSp>
        <p:nvGrpSpPr>
          <p:cNvPr name="Group 10" id="10"/>
          <p:cNvGrpSpPr/>
          <p:nvPr/>
        </p:nvGrpSpPr>
        <p:grpSpPr>
          <a:xfrm rot="0">
            <a:off x="6952208" y="4327522"/>
            <a:ext cx="9595167" cy="815978"/>
            <a:chOff x="0" y="0"/>
            <a:chExt cx="2527122" cy="214908"/>
          </a:xfrm>
        </p:grpSpPr>
        <p:sp>
          <p:nvSpPr>
            <p:cNvPr name="Freeform 11" id="11"/>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2" id="12"/>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13" id="13"/>
          <p:cNvGrpSpPr/>
          <p:nvPr/>
        </p:nvGrpSpPr>
        <p:grpSpPr>
          <a:xfrm rot="0">
            <a:off x="6952208" y="5510548"/>
            <a:ext cx="9595167" cy="815978"/>
            <a:chOff x="0" y="0"/>
            <a:chExt cx="2527122" cy="214908"/>
          </a:xfrm>
        </p:grpSpPr>
        <p:sp>
          <p:nvSpPr>
            <p:cNvPr name="Freeform 14" id="14"/>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5" id="15"/>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16" id="16"/>
          <p:cNvGrpSpPr/>
          <p:nvPr/>
        </p:nvGrpSpPr>
        <p:grpSpPr>
          <a:xfrm rot="0">
            <a:off x="6952208" y="6698001"/>
            <a:ext cx="9595167" cy="815978"/>
            <a:chOff x="0" y="0"/>
            <a:chExt cx="2527122" cy="214908"/>
          </a:xfrm>
        </p:grpSpPr>
        <p:sp>
          <p:nvSpPr>
            <p:cNvPr name="Freeform 17" id="17"/>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8" id="18"/>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19" id="19"/>
          <p:cNvGrpSpPr/>
          <p:nvPr/>
        </p:nvGrpSpPr>
        <p:grpSpPr>
          <a:xfrm rot="0">
            <a:off x="6952208" y="7885454"/>
            <a:ext cx="9595167" cy="815978"/>
            <a:chOff x="0" y="0"/>
            <a:chExt cx="2527122" cy="214908"/>
          </a:xfrm>
        </p:grpSpPr>
        <p:sp>
          <p:nvSpPr>
            <p:cNvPr name="Freeform 20" id="20"/>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21" id="21"/>
            <p:cNvSpPr txBox="true"/>
            <p:nvPr/>
          </p:nvSpPr>
          <p:spPr>
            <a:xfrm>
              <a:off x="0" y="-47625"/>
              <a:ext cx="2527122" cy="262533"/>
            </a:xfrm>
            <a:prstGeom prst="rect">
              <a:avLst/>
            </a:prstGeom>
          </p:spPr>
          <p:txBody>
            <a:bodyPr anchor="ctr" rtlCol="false" tIns="50800" lIns="50800" bIns="50800" rIns="50800"/>
            <a:lstStyle/>
            <a:p>
              <a:pPr algn="ctr" marL="0" indent="0" lvl="0">
                <a:lnSpc>
                  <a:spcPts val="3499"/>
                </a:lnSpc>
              </a:pPr>
            </a:p>
          </p:txBody>
        </p:sp>
      </p:grpSp>
      <p:grpSp>
        <p:nvGrpSpPr>
          <p:cNvPr name="Group 22" id="22"/>
          <p:cNvGrpSpPr/>
          <p:nvPr/>
        </p:nvGrpSpPr>
        <p:grpSpPr>
          <a:xfrm rot="0">
            <a:off x="1028700" y="3867444"/>
            <a:ext cx="4720422" cy="6883263"/>
            <a:chOff x="0" y="0"/>
            <a:chExt cx="731317" cy="1066398"/>
          </a:xfrm>
        </p:grpSpPr>
        <p:sp>
          <p:nvSpPr>
            <p:cNvPr name="Freeform 23" id="23"/>
            <p:cNvSpPr/>
            <p:nvPr/>
          </p:nvSpPr>
          <p:spPr>
            <a:xfrm flipH="false" flipV="false" rot="0">
              <a:off x="0" y="0"/>
              <a:ext cx="731317" cy="1066398"/>
            </a:xfrm>
            <a:custGeom>
              <a:avLst/>
              <a:gdLst/>
              <a:ahLst/>
              <a:cxnLst/>
              <a:rect r="r" b="b" t="t" l="l"/>
              <a:pathLst>
                <a:path h="1066398" w="731317">
                  <a:moveTo>
                    <a:pt x="22961" y="0"/>
                  </a:moveTo>
                  <a:lnTo>
                    <a:pt x="708356" y="0"/>
                  </a:lnTo>
                  <a:cubicBezTo>
                    <a:pt x="714445" y="0"/>
                    <a:pt x="720286" y="2419"/>
                    <a:pt x="724592" y="6725"/>
                  </a:cubicBezTo>
                  <a:cubicBezTo>
                    <a:pt x="728898" y="11031"/>
                    <a:pt x="731317" y="16872"/>
                    <a:pt x="731317" y="22961"/>
                  </a:cubicBezTo>
                  <a:lnTo>
                    <a:pt x="731317" y="1043436"/>
                  </a:lnTo>
                  <a:cubicBezTo>
                    <a:pt x="731317" y="1049526"/>
                    <a:pt x="728898" y="1055366"/>
                    <a:pt x="724592" y="1059672"/>
                  </a:cubicBezTo>
                  <a:cubicBezTo>
                    <a:pt x="720286" y="1063978"/>
                    <a:pt x="714445" y="1066398"/>
                    <a:pt x="708356" y="1066398"/>
                  </a:cubicBezTo>
                  <a:lnTo>
                    <a:pt x="22961" y="1066398"/>
                  </a:lnTo>
                  <a:cubicBezTo>
                    <a:pt x="16872" y="1066398"/>
                    <a:pt x="11031" y="1063978"/>
                    <a:pt x="6725" y="1059672"/>
                  </a:cubicBezTo>
                  <a:cubicBezTo>
                    <a:pt x="2419" y="1055366"/>
                    <a:pt x="0" y="1049526"/>
                    <a:pt x="0" y="1043436"/>
                  </a:cubicBezTo>
                  <a:lnTo>
                    <a:pt x="0" y="22961"/>
                  </a:lnTo>
                  <a:cubicBezTo>
                    <a:pt x="0" y="16872"/>
                    <a:pt x="2419" y="11031"/>
                    <a:pt x="6725" y="6725"/>
                  </a:cubicBezTo>
                  <a:cubicBezTo>
                    <a:pt x="11031" y="2419"/>
                    <a:pt x="16872" y="0"/>
                    <a:pt x="22961" y="0"/>
                  </a:cubicBezTo>
                  <a:close/>
                </a:path>
              </a:pathLst>
            </a:custGeom>
            <a:blipFill>
              <a:blip r:embed="rId3"/>
              <a:stretch>
                <a:fillRect l="-398" t="0" r="-398" b="0"/>
              </a:stretch>
            </a:blipFill>
          </p:spPr>
        </p:sp>
      </p:grpSp>
      <p:grpSp>
        <p:nvGrpSpPr>
          <p:cNvPr name="Group 24" id="24"/>
          <p:cNvGrpSpPr/>
          <p:nvPr/>
        </p:nvGrpSpPr>
        <p:grpSpPr>
          <a:xfrm rot="0">
            <a:off x="11043819" y="-4496808"/>
            <a:ext cx="7244181" cy="724418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sp>
        <p:nvSpPr>
          <p:cNvPr name="TextBox 27" id="27"/>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
        <p:nvSpPr>
          <p:cNvPr name="TextBox 28" id="28"/>
          <p:cNvSpPr txBox="true"/>
          <p:nvPr/>
        </p:nvSpPr>
        <p:spPr>
          <a:xfrm rot="0">
            <a:off x="7397039" y="4510105"/>
            <a:ext cx="8705506" cy="290860"/>
          </a:xfrm>
          <a:prstGeom prst="rect">
            <a:avLst/>
          </a:prstGeom>
        </p:spPr>
        <p:txBody>
          <a:bodyPr anchor="t" rtlCol="false" tIns="0" lIns="0" bIns="0" rIns="0">
            <a:spAutoFit/>
          </a:bodyPr>
          <a:lstStyle/>
          <a:p>
            <a:pPr algn="ctr" marL="0" indent="0" lvl="0">
              <a:lnSpc>
                <a:spcPts val="2343"/>
              </a:lnSpc>
            </a:pPr>
            <a:r>
              <a:rPr lang="en-US" sz="1673">
                <a:solidFill>
                  <a:srgbClr val="FFFFFF"/>
                </a:solidFill>
                <a:latin typeface="Open Sans"/>
                <a:ea typeface="Open Sans"/>
                <a:cs typeface="Open Sans"/>
                <a:sym typeface="Open Sans"/>
              </a:rPr>
              <a:t>Comprehensive analysis of telecom customer behavior using Python and data analytics.</a:t>
            </a:r>
          </a:p>
        </p:txBody>
      </p:sp>
      <p:sp>
        <p:nvSpPr>
          <p:cNvPr name="TextBox 29" id="29"/>
          <p:cNvSpPr txBox="true"/>
          <p:nvPr/>
        </p:nvSpPr>
        <p:spPr>
          <a:xfrm rot="0">
            <a:off x="7397039" y="5695344"/>
            <a:ext cx="8705506" cy="290860"/>
          </a:xfrm>
          <a:prstGeom prst="rect">
            <a:avLst/>
          </a:prstGeom>
        </p:spPr>
        <p:txBody>
          <a:bodyPr anchor="t" rtlCol="false" tIns="0" lIns="0" bIns="0" rIns="0">
            <a:spAutoFit/>
          </a:bodyPr>
          <a:lstStyle/>
          <a:p>
            <a:pPr algn="ctr" marL="0" indent="0" lvl="0">
              <a:lnSpc>
                <a:spcPts val="2343"/>
              </a:lnSpc>
            </a:pPr>
            <a:r>
              <a:rPr lang="en-US" sz="1673">
                <a:solidFill>
                  <a:srgbClr val="FFFFFF"/>
                </a:solidFill>
                <a:latin typeface="Open Sans"/>
                <a:ea typeface="Open Sans"/>
                <a:cs typeface="Open Sans"/>
                <a:sym typeface="Open Sans"/>
              </a:rPr>
              <a:t>Effective data cleaning and visualization techniques successfully applied.</a:t>
            </a:r>
          </a:p>
        </p:txBody>
      </p:sp>
      <p:sp>
        <p:nvSpPr>
          <p:cNvPr name="TextBox 30" id="30"/>
          <p:cNvSpPr txBox="true"/>
          <p:nvPr/>
        </p:nvSpPr>
        <p:spPr>
          <a:xfrm rot="0">
            <a:off x="7397039" y="6878976"/>
            <a:ext cx="8705506" cy="290860"/>
          </a:xfrm>
          <a:prstGeom prst="rect">
            <a:avLst/>
          </a:prstGeom>
        </p:spPr>
        <p:txBody>
          <a:bodyPr anchor="t" rtlCol="false" tIns="0" lIns="0" bIns="0" rIns="0">
            <a:spAutoFit/>
          </a:bodyPr>
          <a:lstStyle/>
          <a:p>
            <a:pPr algn="ctr" marL="0" indent="0" lvl="0">
              <a:lnSpc>
                <a:spcPts val="2343"/>
              </a:lnSpc>
            </a:pPr>
            <a:r>
              <a:rPr lang="en-US" sz="1673">
                <a:solidFill>
                  <a:srgbClr val="FFFFFF"/>
                </a:solidFill>
                <a:latin typeface="Open Sans"/>
                <a:ea typeface="Open Sans"/>
                <a:cs typeface="Open Sans"/>
                <a:sym typeface="Open Sans"/>
              </a:rPr>
              <a:t>Results support improved customer satisfaction and network optimization.</a:t>
            </a:r>
          </a:p>
        </p:txBody>
      </p:sp>
      <p:sp>
        <p:nvSpPr>
          <p:cNvPr name="TextBox 31" id="31"/>
          <p:cNvSpPr txBox="true"/>
          <p:nvPr/>
        </p:nvSpPr>
        <p:spPr>
          <a:xfrm rot="0">
            <a:off x="7397039" y="8068037"/>
            <a:ext cx="8705506" cy="290860"/>
          </a:xfrm>
          <a:prstGeom prst="rect">
            <a:avLst/>
          </a:prstGeom>
        </p:spPr>
        <p:txBody>
          <a:bodyPr anchor="t" rtlCol="false" tIns="0" lIns="0" bIns="0" rIns="0">
            <a:spAutoFit/>
          </a:bodyPr>
          <a:lstStyle/>
          <a:p>
            <a:pPr algn="ctr" marL="0" indent="0" lvl="0">
              <a:lnSpc>
                <a:spcPts val="2343"/>
              </a:lnSpc>
            </a:pPr>
            <a:r>
              <a:rPr lang="en-US" sz="1673">
                <a:solidFill>
                  <a:srgbClr val="FFFFFF"/>
                </a:solidFill>
                <a:latin typeface="Open Sans"/>
                <a:ea typeface="Open Sans"/>
                <a:cs typeface="Open Sans"/>
                <a:sym typeface="Open Sans"/>
              </a:rPr>
              <a:t>Foundation laid for future AI and predictive analytics developments.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marL="0" indent="0" lvl="0">
                <a:lnSpc>
                  <a:spcPts val="3499"/>
                </a:lnSpc>
              </a:pPr>
            </a:p>
          </p:txBody>
        </p:sp>
      </p:grpSp>
      <p:sp>
        <p:nvSpPr>
          <p:cNvPr name="TextBox 16" id="16"/>
          <p:cNvSpPr txBox="true"/>
          <p:nvPr/>
        </p:nvSpPr>
        <p:spPr>
          <a:xfrm rot="0">
            <a:off x="1028700" y="3207594"/>
            <a:ext cx="9537689" cy="1002732"/>
          </a:xfrm>
          <a:prstGeom prst="rect">
            <a:avLst/>
          </a:prstGeom>
        </p:spPr>
        <p:txBody>
          <a:bodyPr anchor="t" rtlCol="false" tIns="0" lIns="0" bIns="0" rIns="0">
            <a:spAutoFit/>
          </a:bodyPr>
          <a:lstStyle/>
          <a:p>
            <a:pPr algn="just" marL="0" indent="0" lvl="0">
              <a:lnSpc>
                <a:spcPts val="7731"/>
              </a:lnSpc>
            </a:pPr>
            <a:r>
              <a:rPr lang="en-US" b="true" sz="5522">
                <a:solidFill>
                  <a:srgbClr val="1E293B"/>
                </a:solidFill>
                <a:latin typeface="Poppins Semi-Bold"/>
                <a:ea typeface="Poppins Semi-Bold"/>
                <a:cs typeface="Poppins Semi-Bold"/>
                <a:sym typeface="Poppins Semi-Bold"/>
              </a:rPr>
              <a:t>Thank You</a:t>
            </a:r>
          </a:p>
        </p:txBody>
      </p:sp>
      <p:sp>
        <p:nvSpPr>
          <p:cNvPr name="TextBox 17" id="17"/>
          <p:cNvSpPr txBox="true"/>
          <p:nvPr/>
        </p:nvSpPr>
        <p:spPr>
          <a:xfrm rot="0">
            <a:off x="1028700" y="4602651"/>
            <a:ext cx="7640629" cy="1002732"/>
          </a:xfrm>
          <a:prstGeom prst="rect">
            <a:avLst/>
          </a:prstGeom>
        </p:spPr>
        <p:txBody>
          <a:bodyPr anchor="t" rtlCol="false" tIns="0" lIns="0" bIns="0" rIns="0">
            <a:spAutoFit/>
          </a:bodyPr>
          <a:lstStyle/>
          <a:p>
            <a:pPr algn="just" marL="0" indent="0" lvl="0">
              <a:lnSpc>
                <a:spcPts val="7731"/>
              </a:lnSpc>
            </a:pPr>
            <a:r>
              <a:rPr lang="en-US" b="true" sz="5522">
                <a:solidFill>
                  <a:srgbClr val="1E293B"/>
                </a:solidFill>
                <a:latin typeface="Poppins Semi-Bold"/>
                <a:ea typeface="Poppins Semi-Bold"/>
                <a:cs typeface="Poppins Semi-Bold"/>
                <a:sym typeface="Poppins Semi-Bold"/>
              </a:rPr>
              <a:t>Questions &amp; Answers</a:t>
            </a:r>
          </a:p>
        </p:txBody>
      </p:sp>
      <p:sp>
        <p:nvSpPr>
          <p:cNvPr name="TextBox 18" id="18"/>
          <p:cNvSpPr txBox="true"/>
          <p:nvPr/>
        </p:nvSpPr>
        <p:spPr>
          <a:xfrm rot="0">
            <a:off x="1624608" y="8038000"/>
            <a:ext cx="4339072" cy="248553"/>
          </a:xfrm>
          <a:prstGeom prst="rect">
            <a:avLst/>
          </a:prstGeom>
        </p:spPr>
        <p:txBody>
          <a:bodyPr anchor="t" rtlCol="false" tIns="0" lIns="0" bIns="0" rIns="0">
            <a:spAutoFit/>
          </a:bodyPr>
          <a:lstStyle/>
          <a:p>
            <a:pPr algn="l" marL="0" indent="0" lvl="0">
              <a:lnSpc>
                <a:spcPts val="2050"/>
              </a:lnSpc>
            </a:pPr>
            <a:r>
              <a:rPr lang="en-US" b="true" sz="1464">
                <a:solidFill>
                  <a:srgbClr val="1E293B"/>
                </a:solidFill>
                <a:latin typeface="Open Sans Bold"/>
                <a:ea typeface="Open Sans Bold"/>
                <a:cs typeface="Open Sans Bold"/>
                <a:sym typeface="Open Sans Bold"/>
              </a:rPr>
              <a:t>Digicrome Academy </a:t>
            </a:r>
            <a:r>
              <a:rPr lang="en-US" b="true" sz="1464">
                <a:solidFill>
                  <a:srgbClr val="1E293B"/>
                </a:solidFill>
                <a:latin typeface="Open Sans Bold"/>
                <a:ea typeface="Open Sans Bold"/>
                <a:cs typeface="Open Sans Bold"/>
                <a:sym typeface="Open Sans Bold"/>
              </a:rPr>
              <a:t>| Data Science with AI</a:t>
            </a:r>
          </a:p>
        </p:txBody>
      </p:sp>
      <p:sp>
        <p:nvSpPr>
          <p:cNvPr name="TextBox 19" id="19"/>
          <p:cNvSpPr txBox="true"/>
          <p:nvPr/>
        </p:nvSpPr>
        <p:spPr>
          <a:xfrm rot="0">
            <a:off x="1624608" y="8450635"/>
            <a:ext cx="3976232" cy="374144"/>
          </a:xfrm>
          <a:prstGeom prst="rect">
            <a:avLst/>
          </a:prstGeom>
        </p:spPr>
        <p:txBody>
          <a:bodyPr anchor="t" rtlCol="false" tIns="0" lIns="0" bIns="0" rIns="0">
            <a:spAutoFit/>
          </a:bodyPr>
          <a:lstStyle/>
          <a:p>
            <a:pPr algn="l" marL="0" indent="0" lvl="0">
              <a:lnSpc>
                <a:spcPts val="3002"/>
              </a:lnSpc>
            </a:pPr>
            <a:r>
              <a:rPr lang="en-US" sz="2144">
                <a:solidFill>
                  <a:srgbClr val="1E293B"/>
                </a:solidFill>
                <a:latin typeface="Open Sans"/>
                <a:ea typeface="Open Sans"/>
                <a:cs typeface="Open Sans"/>
                <a:sym typeface="Open Sans"/>
              </a:rPr>
              <a:t>palvindersing9999@gmail.com  </a:t>
            </a:r>
          </a:p>
        </p:txBody>
      </p:sp>
      <p:sp>
        <p:nvSpPr>
          <p:cNvPr name="TextBox 20" id="20"/>
          <p:cNvSpPr txBox="true"/>
          <p:nvPr/>
        </p:nvSpPr>
        <p:spPr>
          <a:xfrm rot="0">
            <a:off x="2255701" y="1080396"/>
            <a:ext cx="3976232" cy="422320"/>
          </a:xfrm>
          <a:prstGeom prst="rect">
            <a:avLst/>
          </a:prstGeom>
        </p:spPr>
        <p:txBody>
          <a:bodyPr anchor="t" rtlCol="false" tIns="0" lIns="0" bIns="0" rIns="0">
            <a:spAutoFit/>
          </a:bodyPr>
          <a:lstStyle/>
          <a:p>
            <a:pPr algn="l" marL="0" indent="0" lvl="0">
              <a:lnSpc>
                <a:spcPts val="3497"/>
              </a:lnSpc>
            </a:pPr>
            <a:r>
              <a:rPr lang="en-US" b="true" sz="2498">
                <a:solidFill>
                  <a:srgbClr val="1E293B"/>
                </a:solidFill>
                <a:latin typeface="Open Sans Bold"/>
                <a:ea typeface="Open Sans Bold"/>
                <a:cs typeface="Open Sans Bold"/>
                <a:sym typeface="Open Sans Bold"/>
              </a:rPr>
              <a:t>Nexthikes IT 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DAHO_fkvCp4</dc:identifier>
  <dcterms:modified xsi:type="dcterms:W3CDTF">2011-08-01T06:04:30Z</dcterms:modified>
  <cp:revision>1</cp:revision>
  <dc:title>User Analytics in Telecommunication Industry - Data Science Project</dc:title>
</cp:coreProperties>
</file>