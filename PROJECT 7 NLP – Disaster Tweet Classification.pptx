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Mono Bold" charset="1" panose="020B0809050203000203"/>
      <p:regular r:id="rId18"/>
    </p:embeddedFont>
    <p:embeddedFont>
      <p:font typeface="Akzidenz-Grotesk Bold" charset="1" panose="02000803050000020004"/>
      <p:regular r:id="rId19"/>
    </p:embeddedFont>
    <p:embeddedFont>
      <p:font typeface="IBM Plex Sans" charset="1" panose="020B0503050203000203"/>
      <p:regular r:id="rId20"/>
    </p:embeddedFont>
    <p:embeddedFont>
      <p:font typeface="DM Sans Bold" charset="1" panose="00000000000000000000"/>
      <p:regular r:id="rId21"/>
    </p:embeddedFont>
    <p:embeddedFont>
      <p:font typeface="DM Sans" charset="1" panose="00000000000000000000"/>
      <p:regular r:id="rId22"/>
    </p:embeddedFont>
    <p:embeddedFont>
      <p:font typeface="IBM Plex Mono" charset="1" panose="020B0509050203000203"/>
      <p:regular r:id="rId23"/>
    </p:embeddedFont>
    <p:embeddedFont>
      <p:font typeface="Akzidenz-Grotesk" charset="1" panose="02000503030000020003"/>
      <p:regular r:id="rId24"/>
    </p:embeddedFont>
    <p:embeddedFont>
      <p:font typeface="Montserrat Bold" charset="1" panose="00000800000000000000"/>
      <p:regular r:id="rId25"/>
    </p:embeddedFont>
    <p:embeddedFont>
      <p:font typeface="Open Sans Bold" charset="1" panose="00000000000000000000"/>
      <p:regular r:id="rId26"/>
    </p:embeddedFont>
    <p:embeddedFont>
      <p:font typeface="Open San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7">
                <a:alpha val="6274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6300" y="3253219"/>
            <a:ext cx="1047750" cy="76200"/>
            <a:chOff x="0" y="0"/>
            <a:chExt cx="1397000" cy="10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7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76300" y="2464060"/>
            <a:ext cx="666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4" b="true">
                <a:solidFill>
                  <a:srgbClr val="21D4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MACHINE LEARNING • NLP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6300" y="3796144"/>
            <a:ext cx="11906250" cy="164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5700" b="true">
                <a:solidFill>
                  <a:srgbClr val="F4F1E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Disaster Tweet</a:t>
            </a:r>
          </a:p>
          <a:p>
            <a:pPr algn="l">
              <a:lnSpc>
                <a:spcPts val="5871"/>
              </a:lnSpc>
            </a:pPr>
            <a:r>
              <a:rPr lang="en-US" sz="5700" b="true">
                <a:solidFill>
                  <a:srgbClr val="F4F1E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Classification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300" y="5885686"/>
            <a:ext cx="9048750" cy="38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4">
                <a:solidFill>
                  <a:srgbClr val="F4F1E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End-to-End NLP &amp; Machine Learning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300" y="8239125"/>
            <a:ext cx="10953750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 b="true">
                <a:solidFill>
                  <a:srgbClr val="21D4C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PYTHON   /   SCIKIT-LEARN   /   TF-IDF   /   FLASK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" y="755415"/>
            <a:ext cx="8496300" cy="82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 spc="767" b="true">
                <a:solidFill>
                  <a:srgbClr val="6EE7DF"/>
                </a:solidFill>
                <a:latin typeface="DM Sans Bold"/>
                <a:ea typeface="DM Sans Bold"/>
                <a:cs typeface="DM Sans Bold"/>
                <a:sym typeface="DM Sans Bold"/>
              </a:rPr>
              <a:t>Nexthikes IT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0" y="9667875"/>
            <a:ext cx="6667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4"/>
              </a:lnSpc>
            </a:pPr>
            <a:r>
              <a:rPr lang="en-US" sz="1724">
                <a:solidFill>
                  <a:srgbClr val="DCE8FF"/>
                </a:solidFill>
                <a:latin typeface="DM Sans"/>
                <a:ea typeface="DM Sans"/>
                <a:cs typeface="DM Sans"/>
                <a:sym typeface="DM Sans"/>
              </a:rPr>
              <a:t>Disaster Tweet Classification System | 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Problem Statement &amp; Objective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" y="2533650"/>
            <a:ext cx="666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665E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SIGNAL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" y="3009900"/>
            <a:ext cx="8001000" cy="116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 b="true">
                <a:solidFill>
                  <a:srgbClr val="F4F1E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Crisis feeds move faster</a:t>
            </a:r>
          </a:p>
          <a:p>
            <a:pPr algn="l">
              <a:lnSpc>
                <a:spcPts val="4212"/>
              </a:lnSpc>
            </a:pPr>
            <a:r>
              <a:rPr lang="en-US" sz="3900" b="true">
                <a:solidFill>
                  <a:srgbClr val="F4F1E8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than manual response.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6300" y="4724400"/>
            <a:ext cx="7429500" cy="137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FB5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disaster tweets are noisy, ambiguous, and overwhelming. The system automatically separates Disaster from Non-Disaster messages so responders can prioritize credible signals.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10750" y="2857500"/>
            <a:ext cx="3143250" cy="2238375"/>
            <a:chOff x="0" y="0"/>
            <a:chExt cx="4191000" cy="2984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191000" cy="2984500"/>
              <a:chOff x="0" y="0"/>
              <a:chExt cx="4191000" cy="2984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191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102B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191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55600" y="457200"/>
              <a:ext cx="3479800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SPEED</a:t>
              </a:r>
            </a:p>
            <a:p>
              <a:pPr algn="l">
                <a:lnSpc>
                  <a:spcPts val="2835"/>
                </a:lnSpc>
              </a:pPr>
              <a:r>
                <a:rPr lang="en-US" sz="21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Stream-scale triage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287375" y="2857500"/>
            <a:ext cx="3143250" cy="2238375"/>
            <a:chOff x="0" y="0"/>
            <a:chExt cx="4191000" cy="2984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191000" cy="2984500"/>
              <a:chOff x="0" y="0"/>
              <a:chExt cx="4191000" cy="2984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191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102B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4191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55600" y="466725"/>
              <a:ext cx="3479800" cy="857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ACCURACY</a:t>
              </a:r>
            </a:p>
            <a:p>
              <a:pPr algn="l">
                <a:lnSpc>
                  <a:spcPts val="2531"/>
                </a:lnSpc>
              </a:pPr>
              <a:r>
                <a:rPr lang="en-US" sz="1875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Context-aware scoring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10750" y="5476875"/>
            <a:ext cx="3143250" cy="2238375"/>
            <a:chOff x="0" y="0"/>
            <a:chExt cx="4191000" cy="2984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191000" cy="2984500"/>
              <a:chOff x="0" y="0"/>
              <a:chExt cx="4191000" cy="2984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191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419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21D4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4191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55600" y="457200"/>
              <a:ext cx="3479800" cy="962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 b="true">
                  <a:solidFill>
                    <a:srgbClr val="0718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RESPONSE</a:t>
              </a:r>
            </a:p>
            <a:p>
              <a:pPr algn="l">
                <a:lnSpc>
                  <a:spcPts val="2835"/>
                </a:lnSpc>
              </a:pPr>
              <a:r>
                <a:rPr lang="en-US" sz="2100" b="true">
                  <a:solidFill>
                    <a:srgbClr val="0718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Actionable routing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System Architecture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9625" y="3810000"/>
            <a:ext cx="2667000" cy="1428750"/>
            <a:chOff x="0" y="0"/>
            <a:chExt cx="3556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832429"/>
                  </a:lnTo>
                  <a:cubicBezTo>
                    <a:pt x="3556000" y="1851676"/>
                    <a:pt x="3548354" y="1870134"/>
                    <a:pt x="3534744" y="1883744"/>
                  </a:cubicBezTo>
                  <a:cubicBezTo>
                    <a:pt x="3521135" y="1897354"/>
                    <a:pt x="3502676" y="1905000"/>
                    <a:pt x="3483428" y="1905000"/>
                  </a:cubicBezTo>
                  <a:lnTo>
                    <a:pt x="72571" y="1905000"/>
                  </a:lnTo>
                  <a:cubicBezTo>
                    <a:pt x="53324" y="1905000"/>
                    <a:pt x="34865" y="1897354"/>
                    <a:pt x="21256" y="1883744"/>
                  </a:cubicBezTo>
                  <a:cubicBezTo>
                    <a:pt x="7646" y="1870134"/>
                    <a:pt x="0" y="1851676"/>
                    <a:pt x="0" y="1832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556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DATA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INGESTION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590925" y="4524375"/>
            <a:ext cx="552450" cy="0"/>
          </a:xfrm>
          <a:prstGeom prst="line">
            <a:avLst/>
          </a:prstGeom>
          <a:ln cap="rnd" w="47625">
            <a:solidFill>
              <a:srgbClr val="21D4C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295775" y="3810000"/>
            <a:ext cx="2667000" cy="1428750"/>
            <a:chOff x="0" y="0"/>
            <a:chExt cx="3556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832429"/>
                  </a:lnTo>
                  <a:cubicBezTo>
                    <a:pt x="3556000" y="1851676"/>
                    <a:pt x="3548354" y="1870134"/>
                    <a:pt x="3534744" y="1883744"/>
                  </a:cubicBezTo>
                  <a:cubicBezTo>
                    <a:pt x="3521135" y="1897354"/>
                    <a:pt x="3502676" y="1905000"/>
                    <a:pt x="3483428" y="1905000"/>
                  </a:cubicBezTo>
                  <a:lnTo>
                    <a:pt x="72571" y="1905000"/>
                  </a:lnTo>
                  <a:cubicBezTo>
                    <a:pt x="53324" y="1905000"/>
                    <a:pt x="34865" y="1897354"/>
                    <a:pt x="21256" y="1883744"/>
                  </a:cubicBezTo>
                  <a:cubicBezTo>
                    <a:pt x="7646" y="1870134"/>
                    <a:pt x="0" y="1851676"/>
                    <a:pt x="0" y="1832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556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TEXT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PREPROCESSING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077075" y="4524375"/>
            <a:ext cx="552450" cy="0"/>
          </a:xfrm>
          <a:prstGeom prst="line">
            <a:avLst/>
          </a:prstGeom>
          <a:ln cap="rnd" w="47625">
            <a:solidFill>
              <a:srgbClr val="21D4C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781925" y="3810000"/>
            <a:ext cx="2667000" cy="1428750"/>
            <a:chOff x="0" y="0"/>
            <a:chExt cx="35560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832429"/>
                  </a:lnTo>
                  <a:cubicBezTo>
                    <a:pt x="3556000" y="1851676"/>
                    <a:pt x="3548354" y="1870134"/>
                    <a:pt x="3534744" y="1883744"/>
                  </a:cubicBezTo>
                  <a:cubicBezTo>
                    <a:pt x="3521135" y="1897354"/>
                    <a:pt x="3502676" y="1905000"/>
                    <a:pt x="3483428" y="1905000"/>
                  </a:cubicBezTo>
                  <a:lnTo>
                    <a:pt x="72571" y="1905000"/>
                  </a:lnTo>
                  <a:cubicBezTo>
                    <a:pt x="53324" y="1905000"/>
                    <a:pt x="34865" y="1897354"/>
                    <a:pt x="21256" y="1883744"/>
                  </a:cubicBezTo>
                  <a:cubicBezTo>
                    <a:pt x="7646" y="1870134"/>
                    <a:pt x="0" y="1851676"/>
                    <a:pt x="0" y="1832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556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TF-IDF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VECTORIZATION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563225" y="4524375"/>
            <a:ext cx="552450" cy="0"/>
          </a:xfrm>
          <a:prstGeom prst="line">
            <a:avLst/>
          </a:prstGeom>
          <a:ln cap="rnd" w="47625">
            <a:solidFill>
              <a:srgbClr val="21D4C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268075" y="3810000"/>
            <a:ext cx="2667000" cy="1428750"/>
            <a:chOff x="0" y="0"/>
            <a:chExt cx="3556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832429"/>
                  </a:lnTo>
                  <a:cubicBezTo>
                    <a:pt x="3556000" y="1851676"/>
                    <a:pt x="3548354" y="1870134"/>
                    <a:pt x="3534744" y="1883744"/>
                  </a:cubicBezTo>
                  <a:cubicBezTo>
                    <a:pt x="3521135" y="1897354"/>
                    <a:pt x="3502676" y="1905000"/>
                    <a:pt x="3483428" y="1905000"/>
                  </a:cubicBezTo>
                  <a:lnTo>
                    <a:pt x="72571" y="1905000"/>
                  </a:lnTo>
                  <a:cubicBezTo>
                    <a:pt x="53324" y="1905000"/>
                    <a:pt x="34865" y="1897354"/>
                    <a:pt x="21256" y="1883744"/>
                  </a:cubicBezTo>
                  <a:cubicBezTo>
                    <a:pt x="7646" y="1870134"/>
                    <a:pt x="0" y="1851676"/>
                    <a:pt x="0" y="1832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3C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556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MODEL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TUNING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049375" y="4524375"/>
            <a:ext cx="552450" cy="0"/>
          </a:xfrm>
          <a:prstGeom prst="line">
            <a:avLst/>
          </a:prstGeom>
          <a:ln cap="rnd" w="47625">
            <a:solidFill>
              <a:srgbClr val="21D4C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4754225" y="3810000"/>
            <a:ext cx="2667000" cy="1428750"/>
            <a:chOff x="0" y="0"/>
            <a:chExt cx="3556000" cy="190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72571" y="0"/>
                  </a:moveTo>
                  <a:lnTo>
                    <a:pt x="3483428" y="0"/>
                  </a:lnTo>
                  <a:cubicBezTo>
                    <a:pt x="3502676" y="0"/>
                    <a:pt x="3521135" y="7646"/>
                    <a:pt x="3534744" y="21256"/>
                  </a:cubicBezTo>
                  <a:cubicBezTo>
                    <a:pt x="3548354" y="34865"/>
                    <a:pt x="3556000" y="53324"/>
                    <a:pt x="3556000" y="72571"/>
                  </a:cubicBezTo>
                  <a:lnTo>
                    <a:pt x="3556000" y="1832429"/>
                  </a:lnTo>
                  <a:cubicBezTo>
                    <a:pt x="3556000" y="1851676"/>
                    <a:pt x="3548354" y="1870134"/>
                    <a:pt x="3534744" y="1883744"/>
                  </a:cubicBezTo>
                  <a:cubicBezTo>
                    <a:pt x="3521135" y="1897354"/>
                    <a:pt x="3502676" y="1905000"/>
                    <a:pt x="3483428" y="1905000"/>
                  </a:cubicBezTo>
                  <a:lnTo>
                    <a:pt x="72571" y="1905000"/>
                  </a:lnTo>
                  <a:cubicBezTo>
                    <a:pt x="53324" y="1905000"/>
                    <a:pt x="34865" y="1897354"/>
                    <a:pt x="21256" y="1883744"/>
                  </a:cubicBezTo>
                  <a:cubicBezTo>
                    <a:pt x="7646" y="1870134"/>
                    <a:pt x="0" y="1851676"/>
                    <a:pt x="0" y="1832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556000" cy="192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0718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FLASK WEB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0718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DEPLOYMENT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09625" y="5591175"/>
            <a:ext cx="2667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FB5BD"/>
                </a:solidFill>
                <a:latin typeface="IBM Plex Mono"/>
                <a:ea typeface="IBM Plex Mono"/>
                <a:cs typeface="IBM Plex Mono"/>
                <a:sym typeface="IBM Plex Mono"/>
              </a:rPr>
              <a:t>RAW SIGNAL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54225" y="5591175"/>
            <a:ext cx="2667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21D4C2"/>
                </a:solidFill>
                <a:latin typeface="IBM Plex Mono"/>
                <a:ea typeface="IBM Plex Mono"/>
                <a:cs typeface="IBM Plex Mono"/>
                <a:sym typeface="IBM Plex Mono"/>
              </a:rPr>
              <a:t>LIVE PREDICTION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B3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Data Preprocessing &amp; Cleaning Code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2333625"/>
            <a:ext cx="8096250" cy="6191250"/>
            <a:chOff x="0" y="0"/>
            <a:chExt cx="10795000" cy="8255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795000" cy="8255000"/>
              <a:chOff x="0" y="0"/>
              <a:chExt cx="10795000" cy="8255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795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795000">
                    <a:moveTo>
                      <a:pt x="0" y="0"/>
                    </a:moveTo>
                    <a:lnTo>
                      <a:pt x="10795000" y="0"/>
                    </a:lnTo>
                    <a:lnTo>
                      <a:pt x="10795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795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19100" y="406400"/>
              <a:ext cx="381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clean_text.py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19100" y="1295400"/>
              <a:ext cx="9779000" cy="193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def clean_text(text):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text = text.lower()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text = re.sub(r'https?://\S+', '', text)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text = re.sub(r'[^a-z\s]', '', text)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return ' '.join(text.split())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29750" y="2333625"/>
            <a:ext cx="7981950" cy="6191250"/>
            <a:chOff x="0" y="0"/>
            <a:chExt cx="10642600" cy="8255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642600" cy="8255000"/>
              <a:chOff x="0" y="0"/>
              <a:chExt cx="10642600" cy="8255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6426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642600">
                    <a:moveTo>
                      <a:pt x="0" y="0"/>
                    </a:moveTo>
                    <a:lnTo>
                      <a:pt x="10642600" y="0"/>
                    </a:lnTo>
                    <a:lnTo>
                      <a:pt x="10642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6426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08000" y="406400"/>
              <a:ext cx="508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DATAFRAME PREVIEW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08000" y="1295400"/>
              <a:ext cx="9144000" cy="2724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02B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RAW TWEET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02B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Earthquake ALERT!!! https://t.co/x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02B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Watching a movie about earthquakes :)</a:t>
              </a:r>
            </a:p>
            <a:p>
              <a:pPr algn="l">
                <a:lnSpc>
                  <a:spcPts val="2392"/>
                </a:lnSpc>
              </a:pP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02B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CLEANED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02B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earthquake alert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102B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watching a movie about earthquakes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Exploratory Data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8479" y="1642409"/>
            <a:ext cx="9306142" cy="7764182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53379" y="1642409"/>
            <a:ext cx="9306142" cy="7764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B3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Feature Extraction &amp; Baseline Models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" y="2295525"/>
            <a:ext cx="93345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B3C"/>
                </a:solidFill>
                <a:latin typeface="IBM Plex Sans"/>
                <a:ea typeface="IBM Plex Sans"/>
                <a:cs typeface="IBM Plex Sans"/>
                <a:sym typeface="IBM Plex Sans"/>
              </a:rPr>
              <a:t>TF-IDF turns words into weighted signals — rewarding terms that are distinctive across the corpus, not merely frequent.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6300" y="4953000"/>
            <a:ext cx="16535400" cy="1000125"/>
            <a:chOff x="0" y="0"/>
            <a:chExt cx="22047200" cy="1333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2047200" cy="1333500"/>
              <a:chOff x="0" y="0"/>
              <a:chExt cx="22047200" cy="1333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0472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22047200">
                    <a:moveTo>
                      <a:pt x="0" y="0"/>
                    </a:moveTo>
                    <a:lnTo>
                      <a:pt x="22047200" y="0"/>
                    </a:lnTo>
                    <a:lnTo>
                      <a:pt x="220472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02B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20472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19100" y="422275"/>
              <a:ext cx="4953000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Logistic Regression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324600" y="469900"/>
              <a:ext cx="13081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0.82           0.84          0.79        0.81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6300" y="6381750"/>
            <a:ext cx="16535400" cy="1000125"/>
            <a:chOff x="0" y="0"/>
            <a:chExt cx="22047200" cy="1333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2047200" cy="1333500"/>
              <a:chOff x="0" y="0"/>
              <a:chExt cx="22047200" cy="1333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0472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22047200">
                    <a:moveTo>
                      <a:pt x="0" y="0"/>
                    </a:moveTo>
                    <a:lnTo>
                      <a:pt x="22047200" y="0"/>
                    </a:lnTo>
                    <a:lnTo>
                      <a:pt x="220472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20472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19100" y="422275"/>
              <a:ext cx="4953000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02B3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Random Forest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324600" y="469900"/>
              <a:ext cx="13081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102B3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0.78           0.80          0.73        0.76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90625" y="4295775"/>
            <a:ext cx="3429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9FB5B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9750" y="4295775"/>
            <a:ext cx="10287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9FB5B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ACCURACY     PRECISION     RECALL       F1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Cross-Validation &amp; Hyperparameter Tuning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3619500"/>
            <a:ext cx="11620500" cy="4953000"/>
            <a:chOff x="0" y="0"/>
            <a:chExt cx="15494000" cy="660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5494000" cy="6604000"/>
              <a:chOff x="0" y="0"/>
              <a:chExt cx="15494000" cy="660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5494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15494000">
                    <a:moveTo>
                      <a:pt x="0" y="0"/>
                    </a:moveTo>
                    <a:lnTo>
                      <a:pt x="15494000" y="0"/>
                    </a:lnTo>
                    <a:lnTo>
                      <a:pt x="15494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02B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5494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36600" y="469900"/>
              <a:ext cx="14732000" cy="311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&gt; grid.best_params_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{'C': 3.0, 'solver': 'liblinear'}</a:t>
              </a:r>
            </a:p>
            <a:p>
              <a:pPr algn="l">
                <a:lnSpc>
                  <a:spcPts val="2392"/>
                </a:lnSpc>
              </a:pP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&gt; grid.best_score_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0.8234</a:t>
              </a:r>
            </a:p>
            <a:p>
              <a:pPr algn="l">
                <a:lnSpc>
                  <a:spcPts val="2392"/>
                </a:lnSpc>
              </a:pP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CV folds     01   02   03   04   05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F1 score   .81  .84  .82  .83  .82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01625" y="4000500"/>
            <a:ext cx="4000500" cy="3429000"/>
            <a:chOff x="0" y="0"/>
            <a:chExt cx="5334000" cy="4572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334000" cy="4572000"/>
              <a:chOff x="0" y="0"/>
              <a:chExt cx="5334000" cy="4572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334000" cy="4572000"/>
              </a:xfrm>
              <a:custGeom>
                <a:avLst/>
                <a:gdLst/>
                <a:ahLst/>
                <a:cxnLst/>
                <a:rect r="r" b="b" t="t" l="l"/>
                <a:pathLst>
                  <a:path h="4572000" w="5334000">
                    <a:moveTo>
                      <a:pt x="0" y="0"/>
                    </a:moveTo>
                    <a:lnTo>
                      <a:pt x="5334000" y="0"/>
                    </a:lnTo>
                    <a:lnTo>
                      <a:pt x="5334000" y="4572000"/>
                    </a:lnTo>
                    <a:lnTo>
                      <a:pt x="0" y="4572000"/>
                    </a:lnTo>
                    <a:close/>
                  </a:path>
                </a:pathLst>
              </a:custGeom>
              <a:solidFill>
                <a:srgbClr val="21D4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334000" cy="461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698500" y="596900"/>
              <a:ext cx="3937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071827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BEST CONFIGURATION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44500" y="1431925"/>
              <a:ext cx="4445000" cy="137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80"/>
                </a:lnSpc>
              </a:pPr>
              <a:r>
                <a:rPr lang="en-US" sz="5700" b="true">
                  <a:solidFill>
                    <a:srgbClr val="071827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82.3%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44500" y="3009900"/>
              <a:ext cx="444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>
                  <a:solidFill>
                    <a:srgbClr val="07182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MEAN CV SCORE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6300" y="2247900"/>
            <a:ext cx="142875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FB5BD"/>
                </a:solidFill>
                <a:latin typeface="IBM Plex Sans"/>
                <a:ea typeface="IBM Plex Sans"/>
                <a:cs typeface="IBM Plex Sans"/>
                <a:sym typeface="IBM Plex Sans"/>
              </a:rPr>
              <a:t>5-fold stratified cross-validation preserves class balance in every split. GridSearchCV explores regularization strength C and solver combinations.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B3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Model Evaluation &amp; Visual Outputs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6640" y="1764453"/>
            <a:ext cx="9059322" cy="7329595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01772" y="1736130"/>
            <a:ext cx="9228404" cy="7386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Model Serialization &amp; Backend Setup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" y="2562225"/>
            <a:ext cx="4381500" cy="126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025">
                <a:solidFill>
                  <a:srgbClr val="21D4C2"/>
                </a:solidFill>
                <a:latin typeface="IBM Plex Mono"/>
                <a:ea typeface="IBM Plex Mono"/>
                <a:cs typeface="IBM Plex Mono"/>
                <a:sym typeface="IBM Plex Mono"/>
              </a:rPr>
              <a:t>ARTIFACTS</a:t>
            </a:r>
          </a:p>
          <a:p>
            <a:pPr algn="l">
              <a:lnSpc>
                <a:spcPts val="3442"/>
              </a:lnSpc>
            </a:pPr>
            <a:r>
              <a:rPr lang="en-US" sz="2025">
                <a:solidFill>
                  <a:srgbClr val="21D4C2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disaster_model.pkl</a:t>
            </a:r>
          </a:p>
          <a:p>
            <a:pPr algn="l">
              <a:lnSpc>
                <a:spcPts val="3442"/>
              </a:lnSpc>
            </a:pPr>
            <a:r>
              <a:rPr lang="en-US" sz="2025">
                <a:solidFill>
                  <a:srgbClr val="21D4C2"/>
                </a:solidFill>
                <a:latin typeface="IBM Plex Mono"/>
                <a:ea typeface="IBM Plex Mono"/>
                <a:cs typeface="IBM Plex Mono"/>
                <a:sym typeface="IBM Plex Mono"/>
              </a:rPr>
              <a:t>✓ tfidf_vectorizer.pkl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96000" y="2333625"/>
            <a:ext cx="11315700" cy="6191250"/>
            <a:chOff x="0" y="0"/>
            <a:chExt cx="15087600" cy="825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087600" cy="8255000"/>
              <a:chOff x="0" y="0"/>
              <a:chExt cx="15087600" cy="825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50876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5087600">
                    <a:moveTo>
                      <a:pt x="0" y="0"/>
                    </a:moveTo>
                    <a:lnTo>
                      <a:pt x="15087600" y="0"/>
                    </a:lnTo>
                    <a:lnTo>
                      <a:pt x="15087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02B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50876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62000" y="787400"/>
              <a:ext cx="12700000" cy="311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@app.route('/', methods=['POST'])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def predict():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tweet = request.form['tweet']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x = vectorizer.transform([tweet])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label = model.predict(x)[0]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return render_template(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'index.html', prediction=label</a:t>
              </a:r>
            </a:p>
            <a:p>
              <a:pPr algn="l">
                <a:lnSpc>
                  <a:spcPts val="2392"/>
                </a:lnSpc>
              </a:pPr>
              <a:r>
                <a:rPr lang="en-US" sz="1650">
                  <a:solidFill>
                    <a:srgbClr val="F4F1E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B3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Web Interface Deployment Output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882617" y="552450"/>
            <a:ext cx="5333277" cy="3967438"/>
            <a:chOff x="0" y="0"/>
            <a:chExt cx="7111036" cy="528991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111036" cy="5289917"/>
              <a:chOff x="0" y="0"/>
              <a:chExt cx="10414000" cy="7747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14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414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7111036" cy="502976"/>
              <a:chOff x="0" y="0"/>
              <a:chExt cx="10414000" cy="736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414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414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77504" y="110177"/>
              <a:ext cx="3468798" cy="236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3"/>
                </a:lnSpc>
              </a:pPr>
              <a:r>
                <a:rPr lang="en-US" sz="1024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SIGNAL / CLASSIFIER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16256" y="1055424"/>
              <a:ext cx="3035198" cy="2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05"/>
                </a:lnSpc>
              </a:pPr>
              <a:r>
                <a:rPr lang="en-US" sz="1075" b="true">
                  <a:solidFill>
                    <a:srgbClr val="9FB5B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ENTER A TWEET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16256" y="1532384"/>
              <a:ext cx="6278524" cy="340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0"/>
                </a:lnSpc>
              </a:pPr>
              <a:r>
                <a:rPr lang="en-US" sz="1536">
                  <a:solidFill>
                    <a:srgbClr val="102B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Earthquake alert in downtown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16256" y="3243468"/>
              <a:ext cx="6278524" cy="593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1"/>
                </a:lnSpc>
              </a:pPr>
              <a:r>
                <a:rPr lang="en-US" sz="2458" b="true">
                  <a:solidFill>
                    <a:srgbClr val="FF665E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DISASTER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16256" y="3970068"/>
              <a:ext cx="3468798" cy="241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7"/>
                </a:lnSpc>
              </a:pPr>
              <a:r>
                <a:rPr lang="en-US" sz="1126">
                  <a:solidFill>
                    <a:srgbClr val="9FB5B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Confidence 91%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2617" y="5441074"/>
            <a:ext cx="5333277" cy="3967438"/>
            <a:chOff x="0" y="0"/>
            <a:chExt cx="7111036" cy="528991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111036" cy="5289917"/>
              <a:chOff x="0" y="0"/>
              <a:chExt cx="10414000" cy="7747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414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0414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7111036" cy="502976"/>
              <a:chOff x="0" y="0"/>
              <a:chExt cx="10414000" cy="7366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4140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414000" cy="77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77504" y="110177"/>
              <a:ext cx="3468798" cy="236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3"/>
                </a:lnSpc>
              </a:pPr>
              <a:r>
                <a:rPr lang="en-US" sz="1024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SIGNAL / CLASSIFIER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16256" y="1055424"/>
              <a:ext cx="3035198" cy="24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05"/>
                </a:lnSpc>
              </a:pPr>
              <a:r>
                <a:rPr lang="en-US" sz="1075" b="true">
                  <a:solidFill>
                    <a:srgbClr val="9FB5BD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ENTER A TWEET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16256" y="1532384"/>
              <a:ext cx="6278524" cy="340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0"/>
                </a:lnSpc>
              </a:pPr>
              <a:r>
                <a:rPr lang="en-US" sz="1536">
                  <a:solidFill>
                    <a:srgbClr val="102B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Watching a movie about earthquakes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16256" y="3243468"/>
              <a:ext cx="6278524" cy="593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1"/>
                </a:lnSpc>
              </a:pPr>
              <a:r>
                <a:rPr lang="en-US" sz="2458" b="true">
                  <a:solidFill>
                    <a:srgbClr val="36C98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NON-DISASTER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16256" y="3970068"/>
              <a:ext cx="3468798" cy="241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77"/>
                </a:lnSpc>
              </a:pPr>
              <a:r>
                <a:rPr lang="en-US" sz="1126">
                  <a:solidFill>
                    <a:srgbClr val="9FB5B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Confidence 88%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28700" y="2536169"/>
            <a:ext cx="9457824" cy="6861770"/>
          </a:xfrm>
          <a:custGeom>
            <a:avLst/>
            <a:gdLst/>
            <a:ahLst/>
            <a:cxnLst/>
            <a:rect r="r" b="b" t="t" l="l"/>
            <a:pathLst>
              <a:path h="6861770" w="9457824">
                <a:moveTo>
                  <a:pt x="0" y="0"/>
                </a:moveTo>
                <a:lnTo>
                  <a:pt x="9457824" y="0"/>
                </a:lnTo>
                <a:lnTo>
                  <a:pt x="9457824" y="6861769"/>
                </a:lnTo>
                <a:lnTo>
                  <a:pt x="0" y="6861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300" y="552450"/>
            <a:ext cx="14287500" cy="1033272"/>
            <a:chOff x="0" y="0"/>
            <a:chExt cx="19050000" cy="137769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1524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30225"/>
              <a:ext cx="190500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Conclusion &amp; 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21D4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6300" y="2667000"/>
            <a:ext cx="6858000" cy="3790474"/>
            <a:chOff x="0" y="0"/>
            <a:chExt cx="9144000" cy="50539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825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DELIVERED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4850"/>
              <a:ext cx="9144000" cy="1303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2"/>
                </a:lnSpc>
              </a:pPr>
              <a:r>
                <a:rPr lang="en-US" sz="3150" b="true">
                  <a:solidFill>
                    <a:srgbClr val="F4F1E8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 complete NLP pipeline — from noisy tweet to deployed prediction.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152900"/>
              <a:ext cx="9144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9FB5B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TF-IDF features • tuned Logistic Regression • serialized artifacts • Flask web interface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48750" y="2571750"/>
            <a:ext cx="28575" cy="5810250"/>
            <a:chOff x="0" y="0"/>
            <a:chExt cx="38100" cy="774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" cy="7747000"/>
            </a:xfrm>
            <a:custGeom>
              <a:avLst/>
              <a:gdLst/>
              <a:ahLst/>
              <a:cxnLst/>
              <a:rect r="r" b="b" t="t" l="l"/>
              <a:pathLst>
                <a:path h="7747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747000"/>
                  </a:lnTo>
                  <a:lnTo>
                    <a:pt x="0" y="7747000"/>
                  </a:lnTo>
                  <a:close/>
                </a:path>
              </a:pathLst>
            </a:custGeom>
            <a:solidFill>
              <a:srgbClr val="2D5364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8100" cy="778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01250" y="2667000"/>
            <a:ext cx="6667500" cy="3539490"/>
            <a:chOff x="0" y="0"/>
            <a:chExt cx="8890000" cy="47193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825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21D4C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NEXT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84225"/>
              <a:ext cx="8890000" cy="39350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4F1E8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01  Fine-tune transformer models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4F1E8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    BERT / RoBERTa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4F1E8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02  Add cloud-scale deployment</a:t>
              </a: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4F1E8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     AWS / GCP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4F1E8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03  Monitor drift and retrain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84149"/>
            <a:ext cx="13205703" cy="6602851"/>
            <a:chOff x="0" y="0"/>
            <a:chExt cx="6604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45046" y="3684149"/>
            <a:ext cx="7242954" cy="6602851"/>
            <a:chOff x="0" y="0"/>
            <a:chExt cx="660400" cy="6020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602037"/>
            </a:xfrm>
            <a:custGeom>
              <a:avLst/>
              <a:gdLst/>
              <a:ahLst/>
              <a:cxnLst/>
              <a:rect r="r" b="b" t="t" l="l"/>
              <a:pathLst>
                <a:path h="602037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3820"/>
                  </a:cubicBezTo>
                  <a:lnTo>
                    <a:pt x="660400" y="602037"/>
                  </a:lnTo>
                  <a:lnTo>
                    <a:pt x="0" y="602037"/>
                  </a:lnTo>
                  <a:lnTo>
                    <a:pt x="0" y="324027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6A6A0">
                    <a:alpha val="100000"/>
                  </a:srgbClr>
                </a:gs>
                <a:gs pos="100000">
                  <a:srgbClr val="172B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513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323261" y="7140641"/>
            <a:ext cx="2308238" cy="2842292"/>
          </a:xfrm>
          <a:custGeom>
            <a:avLst/>
            <a:gdLst/>
            <a:ahLst/>
            <a:cxnLst/>
            <a:rect r="r" b="b" t="t" l="l"/>
            <a:pathLst>
              <a:path h="2842292" w="2308238">
                <a:moveTo>
                  <a:pt x="0" y="0"/>
                </a:moveTo>
                <a:lnTo>
                  <a:pt x="2308239" y="0"/>
                </a:lnTo>
                <a:lnTo>
                  <a:pt x="2308239" y="2842292"/>
                </a:lnTo>
                <a:lnTo>
                  <a:pt x="0" y="2842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79" t="-5452" r="-16257" b="-404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852523"/>
            <a:ext cx="7484049" cy="188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389"/>
              </a:lnSpc>
            </a:pPr>
            <a:r>
              <a:rPr lang="en-US" b="true" sz="10992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210503"/>
            <a:ext cx="7484049" cy="188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389"/>
              </a:lnSpc>
            </a:pPr>
            <a:r>
              <a:rPr lang="en-US" b="true" sz="10992">
                <a:solidFill>
                  <a:srgbClr val="F7F9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02348" y="5209138"/>
            <a:ext cx="4756952" cy="3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4"/>
              </a:lnSpc>
              <a:spcBef>
                <a:spcPct val="0"/>
              </a:spcBef>
            </a:pPr>
            <a:r>
              <a:rPr lang="en-US" b="true" sz="2039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87262" y="6937949"/>
            <a:ext cx="3629775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5"/>
              </a:lnSpc>
              <a:spcBef>
                <a:spcPct val="0"/>
              </a:spcBef>
            </a:pPr>
            <a:r>
              <a:rPr lang="en-US" b="true" sz="2039">
                <a:solidFill>
                  <a:srgbClr val="F7F9F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 / Portfolio: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2348" y="5849572"/>
            <a:ext cx="4756952" cy="55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3"/>
              </a:lnSpc>
            </a:pPr>
            <a:r>
              <a:rPr lang="en-US" sz="3274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Palvinder Singh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563336"/>
            <a:ext cx="6758850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</a:pPr>
            <a:r>
              <a:rPr lang="en-US" sz="2498">
                <a:solidFill>
                  <a:srgbClr val="F7F9FC"/>
                </a:solidFill>
                <a:latin typeface="Open Sans"/>
                <a:ea typeface="Open Sans"/>
                <a:cs typeface="Open Sans"/>
                <a:sym typeface="Open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DAHVeFCFLwY</dc:identifier>
  <dcterms:modified xsi:type="dcterms:W3CDTF">2011-08-01T06:04:30Z</dcterms:modified>
  <cp:revision>1</cp:revision>
  <dc:title>PROJECT 7 NLP – Disaster Tweet Classification</dc:title>
</cp:coreProperties>
</file>